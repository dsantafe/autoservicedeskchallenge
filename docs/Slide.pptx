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8" r:id="rId7"/>
    <p:sldId id="260" r:id="rId8"/>
    <p:sldId id="273" r:id="rId9"/>
    <p:sldId id="269" r:id="rId10"/>
    <p:sldId id="270" r:id="rId11"/>
    <p:sldId id="271" r:id="rId1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p:scale>
          <a:sx n="100" d="100"/>
          <a:sy n="100" d="100"/>
        </p:scale>
        <p:origin x="990" y="4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8C688F-52D1-4334-8681-D76895965C4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6522A99-A8F7-4E18-BA00-D9A09964B8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540B9FEA-7BAE-4D0F-A6D6-66502DD7D0F4}"/>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5" name="Marcador de pie de página 4">
            <a:extLst>
              <a:ext uri="{FF2B5EF4-FFF2-40B4-BE49-F238E27FC236}">
                <a16:creationId xmlns:a16="http://schemas.microsoft.com/office/drawing/2014/main" id="{EBF4C257-F3E8-415B-9701-BC06500A439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47434C0-682A-4526-A67C-09F2C0050B96}"/>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2587614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E88FA-2E6B-428E-A34A-036A05BAB8B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B01FF02-9D91-46A5-BB58-915720F6E25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71445FA-C016-44B7-A01F-FDB6473C8AC6}"/>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5" name="Marcador de pie de página 4">
            <a:extLst>
              <a:ext uri="{FF2B5EF4-FFF2-40B4-BE49-F238E27FC236}">
                <a16:creationId xmlns:a16="http://schemas.microsoft.com/office/drawing/2014/main" id="{DF7BBA57-A0CB-458A-8964-24DA312CB78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1EADC1C-E21D-43A9-880E-455FFE00B67F}"/>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3740097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8065E-DD6D-45DD-B87A-4385CC95978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6A4B219-7720-4597-9BFE-FE99B40AFE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2856E5-E343-4E6E-B7A7-FC69AD37217E}"/>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5" name="Marcador de pie de página 4">
            <a:extLst>
              <a:ext uri="{FF2B5EF4-FFF2-40B4-BE49-F238E27FC236}">
                <a16:creationId xmlns:a16="http://schemas.microsoft.com/office/drawing/2014/main" id="{72606A48-1824-4535-B1A0-0F83107EC36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DFF18B3-0669-47D0-942E-DADD2095A91D}"/>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2578018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891F31-980F-43CE-8BC3-0771C409499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BBFCCE8-73EB-4DE0-9E0B-A180BF81B1C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785F6089-3B79-49BE-BA81-46B3A1FABB4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CA8C7B31-8E83-4DD8-A29C-0707BB7F9C33}"/>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6" name="Marcador de pie de página 5">
            <a:extLst>
              <a:ext uri="{FF2B5EF4-FFF2-40B4-BE49-F238E27FC236}">
                <a16:creationId xmlns:a16="http://schemas.microsoft.com/office/drawing/2014/main" id="{A772ECE3-BA62-40E8-B06C-F36F4E0D600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DD817E4-A7D8-4F03-9634-4100A2E9552F}"/>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2847566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051F6A-6A0B-437A-A436-2F0D84A5512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6D7F227-02B4-4B42-AE08-DFFD9E832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FC640DE-DB81-45A9-92B1-D5849C0AEED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785C26F-2A92-49F3-9549-561675628C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CED76F0-A7F7-4B62-A442-247A1F8BFF4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9DB1CE5B-FA67-4F41-B521-BC1C58B923E1}"/>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8" name="Marcador de pie de página 7">
            <a:extLst>
              <a:ext uri="{FF2B5EF4-FFF2-40B4-BE49-F238E27FC236}">
                <a16:creationId xmlns:a16="http://schemas.microsoft.com/office/drawing/2014/main" id="{298CE834-F843-4B35-8B3E-781E2501A883}"/>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931543F-BC81-49A8-B0AB-CE20B9F83BE1}"/>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80894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3BA642-1743-4499-90A2-9798D9CFBA7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22E88C85-B943-4A51-B5D8-2482AAC1EA13}"/>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4" name="Marcador de pie de página 3">
            <a:extLst>
              <a:ext uri="{FF2B5EF4-FFF2-40B4-BE49-F238E27FC236}">
                <a16:creationId xmlns:a16="http://schemas.microsoft.com/office/drawing/2014/main" id="{9AFC670F-A2F9-4686-8C31-1719C0DBA04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126AF73B-2A6E-4CC4-A4AC-423404150209}"/>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178449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6415C36-BA1E-4130-BE98-C1A54CAA5A14}"/>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3" name="Marcador de pie de página 2">
            <a:extLst>
              <a:ext uri="{FF2B5EF4-FFF2-40B4-BE49-F238E27FC236}">
                <a16:creationId xmlns:a16="http://schemas.microsoft.com/office/drawing/2014/main" id="{8DFEE333-6B09-4815-854F-09FA41A6875E}"/>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654DC47-6244-4371-9813-75055B3F7F81}"/>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1546596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E75158-9236-4D4D-AD94-993E6980EE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8948069-6C67-4463-A743-850B619B08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84F83F7-4715-48C2-A6CE-9811B138B2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C576BFC-BCE9-4F90-A9B1-12C48E2D4457}"/>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6" name="Marcador de pie de página 5">
            <a:extLst>
              <a:ext uri="{FF2B5EF4-FFF2-40B4-BE49-F238E27FC236}">
                <a16:creationId xmlns:a16="http://schemas.microsoft.com/office/drawing/2014/main" id="{7687BA8C-C831-45A2-B5DC-C2C11187C78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50C7FE0-68D1-47A9-B735-2865FC66B584}"/>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1089250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B1103-6E4E-433D-BBFB-198B8EC1EE0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123D367-BC79-4EC7-BC49-73502E9EE0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1086456A-0A82-48EC-852D-56CE315A1C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F287EB8-B1CE-4199-BF1C-A4AB0DE8851A}"/>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6" name="Marcador de pie de página 5">
            <a:extLst>
              <a:ext uri="{FF2B5EF4-FFF2-40B4-BE49-F238E27FC236}">
                <a16:creationId xmlns:a16="http://schemas.microsoft.com/office/drawing/2014/main" id="{7CA078D5-5FA9-449C-BF4D-6B81BE63976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30813FB-1F25-4053-A790-184DAFC6FEC9}"/>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2114249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55ED05-8212-435C-B5ED-DF0AA2E68E9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2E99CD-583D-49C2-8152-4138267DED0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4156C8E-278C-4073-9FAA-DA5D964B75F9}"/>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5" name="Marcador de pie de página 4">
            <a:extLst>
              <a:ext uri="{FF2B5EF4-FFF2-40B4-BE49-F238E27FC236}">
                <a16:creationId xmlns:a16="http://schemas.microsoft.com/office/drawing/2014/main" id="{90E76CE4-CD48-43BD-8D2C-EAFCCF3827F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F69C0F3-C7E0-4783-9520-47B585F43AA2}"/>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1118247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0D0BBC6-6889-4A12-BDBC-5600AC34059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FCA94A52-DC71-47B7-9CD0-0673FB43DD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14C933-A9F0-4540-9B93-E55D28F774A8}"/>
              </a:ext>
            </a:extLst>
          </p:cNvPr>
          <p:cNvSpPr>
            <a:spLocks noGrp="1"/>
          </p:cNvSpPr>
          <p:nvPr>
            <p:ph type="dt" sz="half" idx="10"/>
          </p:nvPr>
        </p:nvSpPr>
        <p:spPr/>
        <p:txBody>
          <a:bodyPr/>
          <a:lstStyle/>
          <a:p>
            <a:fld id="{87C019ED-86BB-4A5F-913A-9C604CE21FC6}" type="datetimeFigureOut">
              <a:rPr lang="es-CO" smtClean="0"/>
              <a:t>28/11/2025</a:t>
            </a:fld>
            <a:endParaRPr lang="es-CO"/>
          </a:p>
        </p:txBody>
      </p:sp>
      <p:sp>
        <p:nvSpPr>
          <p:cNvPr id="5" name="Marcador de pie de página 4">
            <a:extLst>
              <a:ext uri="{FF2B5EF4-FFF2-40B4-BE49-F238E27FC236}">
                <a16:creationId xmlns:a16="http://schemas.microsoft.com/office/drawing/2014/main" id="{F9F531F7-FBB4-474F-9CAE-C505A5812DA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56E2BEA-2970-473B-9428-3F55E23658BB}"/>
              </a:ext>
            </a:extLst>
          </p:cNvPr>
          <p:cNvSpPr>
            <a:spLocks noGrp="1"/>
          </p:cNvSpPr>
          <p:nvPr>
            <p:ph type="sldNum" sz="quarter" idx="12"/>
          </p:nvPr>
        </p:nvSpPr>
        <p:spPr/>
        <p:txBody>
          <a:bodyPr/>
          <a:lstStyle/>
          <a:p>
            <a:fld id="{3CC025E3-0810-4A24-BDE4-98791F086DC4}" type="slidenum">
              <a:rPr lang="es-CO" smtClean="0"/>
              <a:t>‹Nº›</a:t>
            </a:fld>
            <a:endParaRPr lang="es-CO"/>
          </a:p>
        </p:txBody>
      </p:sp>
    </p:spTree>
    <p:extLst>
      <p:ext uri="{BB962C8B-B14F-4D97-AF65-F5344CB8AC3E}">
        <p14:creationId xmlns:p14="http://schemas.microsoft.com/office/powerpoint/2010/main" val="4084458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000">
              <a:schemeClr val="accent5">
                <a:lumMod val="20000"/>
                <a:lumOff val="80000"/>
              </a:schemeClr>
            </a:gs>
            <a:gs pos="28000">
              <a:schemeClr val="accent1">
                <a:lumMod val="20000"/>
                <a:lumOff val="80000"/>
                <a:alpha val="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6AE4005-316A-4BC2-901E-E33B6A33CE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DB00BB0-BF30-48AA-B5B8-6F70775C1F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8248C25-F11D-484B-B160-9F8A70E6FC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019ED-86BB-4A5F-913A-9C604CE21FC6}" type="datetimeFigureOut">
              <a:rPr lang="es-CO" smtClean="0"/>
              <a:t>28/11/2025</a:t>
            </a:fld>
            <a:endParaRPr lang="es-CO"/>
          </a:p>
        </p:txBody>
      </p:sp>
      <p:sp>
        <p:nvSpPr>
          <p:cNvPr id="5" name="Marcador de pie de página 4">
            <a:extLst>
              <a:ext uri="{FF2B5EF4-FFF2-40B4-BE49-F238E27FC236}">
                <a16:creationId xmlns:a16="http://schemas.microsoft.com/office/drawing/2014/main" id="{258221BE-F7E0-4305-AF04-B0A33E463C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A1432D7E-0EAF-40ED-A334-3C5F7ECB99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025E3-0810-4A24-BDE4-98791F086DC4}" type="slidenum">
              <a:rPr lang="es-CO" smtClean="0"/>
              <a:t>‹Nº›</a:t>
            </a:fld>
            <a:endParaRPr lang="es-CO"/>
          </a:p>
        </p:txBody>
      </p:sp>
    </p:spTree>
    <p:extLst>
      <p:ext uri="{BB962C8B-B14F-4D97-AF65-F5344CB8AC3E}">
        <p14:creationId xmlns:p14="http://schemas.microsoft.com/office/powerpoint/2010/main" val="3129988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4.png"/><Relationship Id="rId7" Type="http://schemas.openxmlformats.org/officeDocument/2006/relationships/image" Target="../media/image18.jpe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png"/><Relationship Id="rId10" Type="http://schemas.openxmlformats.org/officeDocument/2006/relationships/image" Target="../media/image12.png"/><Relationship Id="rId4" Type="http://schemas.openxmlformats.org/officeDocument/2006/relationships/image" Target="../media/image5.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jp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github.com/dsantafe/HttpClientDemo" TargetMode="Externa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jpeg"/><Relationship Id="rId7" Type="http://schemas.openxmlformats.org/officeDocument/2006/relationships/image" Target="../media/image31.jp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0.jpe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5C16FC-4140-4425-8194-AADCB9E74882}"/>
              </a:ext>
            </a:extLst>
          </p:cNvPr>
          <p:cNvSpPr>
            <a:spLocks noGrp="1"/>
          </p:cNvSpPr>
          <p:nvPr>
            <p:ph type="ctrTitle"/>
          </p:nvPr>
        </p:nvSpPr>
        <p:spPr>
          <a:xfrm>
            <a:off x="4805818" y="2664335"/>
            <a:ext cx="6906017" cy="1529327"/>
          </a:xfrm>
        </p:spPr>
        <p:txBody>
          <a:bodyPr>
            <a:normAutofit/>
          </a:bodyPr>
          <a:lstStyle/>
          <a:p>
            <a:pPr algn="l"/>
            <a:r>
              <a:rPr lang="es-CO" sz="2400" dirty="0">
                <a:latin typeface="+mn-lt"/>
                <a:cs typeface="Arial" panose="020B0604020202020204" pitchFamily="34" charset="0"/>
              </a:rPr>
              <a:t>MICROSOFT</a:t>
            </a:r>
            <a:br>
              <a:rPr lang="es-CO" sz="2400" dirty="0">
                <a:latin typeface="+mn-lt"/>
                <a:cs typeface="Arial" panose="020B0604020202020204" pitchFamily="34" charset="0"/>
              </a:rPr>
            </a:br>
            <a:r>
              <a:rPr lang="es-CO" sz="2400" b="1" dirty="0">
                <a:latin typeface="+mn-lt"/>
                <a:cs typeface="Arial" panose="020B0604020202020204" pitchFamily="34" charset="0"/>
              </a:rPr>
              <a:t>HACKATHON INNOVATION CHALLENGE </a:t>
            </a:r>
            <a:br>
              <a:rPr lang="es-CO" sz="2400" dirty="0">
                <a:latin typeface="+mn-lt"/>
                <a:cs typeface="Arial" panose="020B0604020202020204" pitchFamily="34" charset="0"/>
              </a:rPr>
            </a:br>
            <a:r>
              <a:rPr lang="es-CO" sz="2400" dirty="0">
                <a:latin typeface="+mn-lt"/>
                <a:cs typeface="Arial" panose="020B0604020202020204" pitchFamily="34" charset="0"/>
              </a:rPr>
              <a:t>NOVEMBER 2025</a:t>
            </a:r>
            <a:br>
              <a:rPr lang="es-CO" sz="2400" dirty="0">
                <a:latin typeface="+mn-lt"/>
                <a:cs typeface="Arial" panose="020B0604020202020204" pitchFamily="34" charset="0"/>
              </a:rPr>
            </a:br>
            <a:r>
              <a:rPr lang="es-CO" sz="2400" dirty="0">
                <a:latin typeface="+mn-lt"/>
                <a:cs typeface="Arial" panose="020B0604020202020204" pitchFamily="34" charset="0"/>
              </a:rPr>
              <a:t>CÓDIGO FACILITO</a:t>
            </a:r>
            <a:endParaRPr lang="es-CO" dirty="0">
              <a:latin typeface="+mn-lt"/>
              <a:cs typeface="Arial" panose="020B0604020202020204" pitchFamily="34" charset="0"/>
            </a:endParaRPr>
          </a:p>
        </p:txBody>
      </p:sp>
      <p:pic>
        <p:nvPicPr>
          <p:cNvPr id="4" name="Picture 2" descr="Microsoft 365 Blog -">
            <a:extLst>
              <a:ext uri="{FF2B5EF4-FFF2-40B4-BE49-F238E27FC236}">
                <a16:creationId xmlns:a16="http://schemas.microsoft.com/office/drawing/2014/main" id="{E1CAA6B0-BFA1-44AF-A32C-F93AA0C35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3769" y="2582973"/>
            <a:ext cx="1692049" cy="169204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7DA0C6D1-87A9-468A-A3F0-A5B79474D12D}"/>
              </a:ext>
            </a:extLst>
          </p:cNvPr>
          <p:cNvPicPr>
            <a:picLocks noChangeAspect="1"/>
          </p:cNvPicPr>
          <p:nvPr/>
        </p:nvPicPr>
        <p:blipFill>
          <a:blip r:embed="rId3"/>
          <a:stretch>
            <a:fillRect/>
          </a:stretch>
        </p:blipFill>
        <p:spPr>
          <a:xfrm>
            <a:off x="10429515" y="5261956"/>
            <a:ext cx="1762485" cy="1596044"/>
          </a:xfrm>
          <a:prstGeom prst="rect">
            <a:avLst/>
          </a:prstGeom>
        </p:spPr>
      </p:pic>
    </p:spTree>
    <p:extLst>
      <p:ext uri="{BB962C8B-B14F-4D97-AF65-F5344CB8AC3E}">
        <p14:creationId xmlns:p14="http://schemas.microsoft.com/office/powerpoint/2010/main" val="1423927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E59F30-EA42-4FDD-9379-60A997092E9B}"/>
              </a:ext>
            </a:extLst>
          </p:cNvPr>
          <p:cNvSpPr>
            <a:spLocks noGrp="1"/>
          </p:cNvSpPr>
          <p:nvPr>
            <p:ph type="title"/>
          </p:nvPr>
        </p:nvSpPr>
        <p:spPr>
          <a:xfrm>
            <a:off x="6096000" y="2104303"/>
            <a:ext cx="5257800" cy="1325563"/>
          </a:xfrm>
        </p:spPr>
        <p:txBody>
          <a:bodyPr>
            <a:normAutofit fontScale="90000"/>
          </a:bodyPr>
          <a:lstStyle/>
          <a:p>
            <a:r>
              <a:rPr lang="en-US" sz="4400" dirty="0"/>
              <a:t>NexusDesk Copilot: </a:t>
            </a:r>
            <a:r>
              <a:rPr lang="en-US" sz="3100" dirty="0"/>
              <a:t>Auto-Resolve Service Desk with AI Agents + Azure DevOps</a:t>
            </a:r>
            <a:endParaRPr lang="en-US" dirty="0"/>
          </a:p>
        </p:txBody>
      </p:sp>
      <p:sp>
        <p:nvSpPr>
          <p:cNvPr id="3" name="Marcador de contenido 2">
            <a:extLst>
              <a:ext uri="{FF2B5EF4-FFF2-40B4-BE49-F238E27FC236}">
                <a16:creationId xmlns:a16="http://schemas.microsoft.com/office/drawing/2014/main" id="{913E998C-A0D0-4132-B750-764AEA963B88}"/>
              </a:ext>
            </a:extLst>
          </p:cNvPr>
          <p:cNvSpPr>
            <a:spLocks noGrp="1"/>
          </p:cNvSpPr>
          <p:nvPr>
            <p:ph idx="1"/>
          </p:nvPr>
        </p:nvSpPr>
        <p:spPr>
          <a:xfrm>
            <a:off x="6096000" y="3429000"/>
            <a:ext cx="5257800" cy="1209502"/>
          </a:xfrm>
        </p:spPr>
        <p:txBody>
          <a:bodyPr/>
          <a:lstStyle/>
          <a:p>
            <a:pPr marL="0" indent="0">
              <a:buNone/>
            </a:pPr>
            <a:r>
              <a:rPr lang="en-US" dirty="0"/>
              <a:t>Powered by      Microsoft Azure</a:t>
            </a:r>
          </a:p>
          <a:p>
            <a:pPr marL="0" indent="0">
              <a:buNone/>
            </a:pPr>
            <a:endParaRPr lang="es-CO" dirty="0"/>
          </a:p>
        </p:txBody>
      </p:sp>
      <p:pic>
        <p:nvPicPr>
          <p:cNvPr id="1026" name="Picture 2" descr="Microsoft Azure - Wikipedia, la enciclopedia libre">
            <a:extLst>
              <a:ext uri="{FF2B5EF4-FFF2-40B4-BE49-F238E27FC236}">
                <a16:creationId xmlns:a16="http://schemas.microsoft.com/office/drawing/2014/main" id="{A16F2966-219C-4BE4-A6A5-E75ECE2E1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4842" y="3429000"/>
            <a:ext cx="438604" cy="438604"/>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588650D4-0812-4293-9C43-E86FEDE3C9F9}"/>
              </a:ext>
            </a:extLst>
          </p:cNvPr>
          <p:cNvSpPr txBox="1"/>
          <p:nvPr/>
        </p:nvSpPr>
        <p:spPr>
          <a:xfrm>
            <a:off x="6934201" y="6274523"/>
            <a:ext cx="5257799" cy="523220"/>
          </a:xfrm>
          <a:prstGeom prst="rect">
            <a:avLst/>
          </a:prstGeom>
          <a:noFill/>
        </p:spPr>
        <p:txBody>
          <a:bodyPr wrap="square">
            <a:spAutoFit/>
          </a:bodyPr>
          <a:lstStyle/>
          <a:p>
            <a:pPr algn="r"/>
            <a:r>
              <a:rPr lang="es-MX" sz="1400" dirty="0">
                <a:cs typeface="Calibri"/>
              </a:rPr>
              <a:t>EXECUTIVE CHALLENGE: </a:t>
            </a:r>
          </a:p>
          <a:p>
            <a:pPr algn="r"/>
            <a:r>
              <a:rPr lang="en-US" sz="1400" dirty="0">
                <a:cs typeface="Calibri"/>
              </a:rPr>
              <a:t>Auto-resolve Service Desk</a:t>
            </a:r>
            <a:endParaRPr lang="en-US" dirty="0">
              <a:cs typeface="Calibri"/>
            </a:endParaRPr>
          </a:p>
        </p:txBody>
      </p:sp>
      <p:pic>
        <p:nvPicPr>
          <p:cNvPr id="1030" name="Picture 6" descr="Microsoft | Microsoft Wiki | Fandom">
            <a:extLst>
              <a:ext uri="{FF2B5EF4-FFF2-40B4-BE49-F238E27FC236}">
                <a16:creationId xmlns:a16="http://schemas.microsoft.com/office/drawing/2014/main" id="{10ACC3FE-0050-4B98-9DC0-2953ECDECE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Logo de Código Facilito">
            <a:extLst>
              <a:ext uri="{FF2B5EF4-FFF2-40B4-BE49-F238E27FC236}">
                <a16:creationId xmlns:a16="http://schemas.microsoft.com/office/drawing/2014/main" id="{8D7804C3-142C-4205-9A00-1B140D1EE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descr="Logotipo, nombre de la empresa&#10;&#10;Descripción generada automáticamente">
            <a:extLst>
              <a:ext uri="{FF2B5EF4-FFF2-40B4-BE49-F238E27FC236}">
                <a16:creationId xmlns:a16="http://schemas.microsoft.com/office/drawing/2014/main" id="{911FAB12-9210-44D1-94C1-D2DC7A1E06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7696" y="1617621"/>
            <a:ext cx="3622758" cy="3622758"/>
          </a:xfrm>
          <a:prstGeom prst="rect">
            <a:avLst/>
          </a:prstGeom>
        </p:spPr>
      </p:pic>
    </p:spTree>
    <p:extLst>
      <p:ext uri="{BB962C8B-B14F-4D97-AF65-F5344CB8AC3E}">
        <p14:creationId xmlns:p14="http://schemas.microsoft.com/office/powerpoint/2010/main" val="2135532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8263CF-70DC-4744-97BE-E51E2816A5BD}"/>
              </a:ext>
            </a:extLst>
          </p:cNvPr>
          <p:cNvSpPr>
            <a:spLocks noGrp="1"/>
          </p:cNvSpPr>
          <p:nvPr>
            <p:ph type="title"/>
          </p:nvPr>
        </p:nvSpPr>
        <p:spPr/>
        <p:txBody>
          <a:bodyPr/>
          <a:lstStyle/>
          <a:p>
            <a:r>
              <a:rPr lang="en-US" dirty="0">
                <a:cs typeface="Calibri Light"/>
              </a:rPr>
              <a:t>Project Description</a:t>
            </a:r>
            <a:endParaRPr lang="en-US" dirty="0"/>
          </a:p>
        </p:txBody>
      </p:sp>
      <p:sp>
        <p:nvSpPr>
          <p:cNvPr id="3" name="Marcador de contenido 2">
            <a:extLst>
              <a:ext uri="{FF2B5EF4-FFF2-40B4-BE49-F238E27FC236}">
                <a16:creationId xmlns:a16="http://schemas.microsoft.com/office/drawing/2014/main" id="{B97D23BE-4A58-43B5-96E4-278CD20E752D}"/>
              </a:ext>
            </a:extLst>
          </p:cNvPr>
          <p:cNvSpPr>
            <a:spLocks noGrp="1"/>
          </p:cNvSpPr>
          <p:nvPr>
            <p:ph idx="1"/>
          </p:nvPr>
        </p:nvSpPr>
        <p:spPr/>
        <p:txBody>
          <a:bodyPr>
            <a:normAutofit/>
          </a:bodyPr>
          <a:lstStyle/>
          <a:p>
            <a:r>
              <a:rPr lang="en-US" sz="2400" dirty="0">
                <a:ea typeface="+mn-lt"/>
                <a:cs typeface="+mn-lt"/>
              </a:rPr>
              <a:t>NexusDesk Copilot is a Service Desk auto-resolution solution powered by Artificial Intelligence and a system of cooperative agents built on MCP (Model Context Protocol). The solution transforms Azure DevOps into an intelligent operations hub, where the agents can classify requests, create and manage tickets, execute automated pipelines, retrieve documentation, and resolve incidents without human intervention.</a:t>
            </a:r>
            <a:endParaRPr lang="es-MX" sz="2400" dirty="0">
              <a:ea typeface="+mn-lt"/>
              <a:cs typeface="+mn-lt"/>
            </a:endParaRPr>
          </a:p>
          <a:p>
            <a:endParaRPr lang="es-MX" sz="2400" dirty="0">
              <a:ea typeface="+mn-lt"/>
              <a:cs typeface="+mn-lt"/>
            </a:endParaRPr>
          </a:p>
          <a:p>
            <a:r>
              <a:rPr lang="en-US" sz="2400" dirty="0"/>
              <a:t>The solution incorporates an orchestrator with internal policies that evaluates the company’s organizational chart, employee roles, the criticality of the requested action, and authorized vs. required permissions in order to decide whether the request can be resolved automatically or must be safely escalated.</a:t>
            </a:r>
            <a:endParaRPr lang="es-CO" sz="2400" dirty="0"/>
          </a:p>
        </p:txBody>
      </p:sp>
      <p:pic>
        <p:nvPicPr>
          <p:cNvPr id="4" name="Picture 6" descr="Microsoft | Microsoft Wiki | Fandom">
            <a:extLst>
              <a:ext uri="{FF2B5EF4-FFF2-40B4-BE49-F238E27FC236}">
                <a16:creationId xmlns:a16="http://schemas.microsoft.com/office/drawing/2014/main" id="{53E2802C-ECD6-44E4-86C2-DB819165E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de Código Facilito">
            <a:extLst>
              <a:ext uri="{FF2B5EF4-FFF2-40B4-BE49-F238E27FC236}">
                <a16:creationId xmlns:a16="http://schemas.microsoft.com/office/drawing/2014/main" id="{12039F67-E2D8-43AA-8BFC-BD176EDC97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56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1C9754AE-EA9F-4D4F-AED2-B6C8B60FC130}"/>
              </a:ext>
            </a:extLst>
          </p:cNvPr>
          <p:cNvSpPr txBox="1"/>
          <p:nvPr/>
        </p:nvSpPr>
        <p:spPr>
          <a:xfrm>
            <a:off x="130630" y="3879724"/>
            <a:ext cx="2931886" cy="1877437"/>
          </a:xfrm>
          <a:prstGeom prst="rect">
            <a:avLst/>
          </a:prstGeom>
          <a:noFill/>
        </p:spPr>
        <p:txBody>
          <a:bodyPr wrap="square">
            <a:spAutoFit/>
          </a:bodyPr>
          <a:lstStyle/>
          <a:p>
            <a:pPr algn="ctr"/>
            <a:r>
              <a:rPr lang="en-US" sz="1400" b="1" dirty="0">
                <a:ea typeface="+mn-lt"/>
                <a:cs typeface="+mn-lt"/>
              </a:rPr>
              <a:t>Reduce repetitive Service Desk tickets by 70% through intelligent auto-resolution. </a:t>
            </a:r>
            <a:r>
              <a:rPr lang="en-US" sz="1400" dirty="0">
                <a:ea typeface="+mn-lt"/>
                <a:cs typeface="+mn-lt"/>
              </a:rPr>
              <a:t>Automate access requests, common issues, basic configurations, and frequent inquiries without requiring IT staff intervention.</a:t>
            </a:r>
            <a:endParaRPr lang="es-MX" sz="1400" dirty="0">
              <a:ea typeface="+mn-lt"/>
              <a:cs typeface="+mn-lt"/>
            </a:endParaRPr>
          </a:p>
          <a:p>
            <a:endParaRPr lang="es-MX" sz="1800" dirty="0">
              <a:ea typeface="+mn-lt"/>
              <a:cs typeface="+mn-lt"/>
            </a:endParaRPr>
          </a:p>
        </p:txBody>
      </p:sp>
      <p:sp>
        <p:nvSpPr>
          <p:cNvPr id="10" name="CuadroTexto 9">
            <a:extLst>
              <a:ext uri="{FF2B5EF4-FFF2-40B4-BE49-F238E27FC236}">
                <a16:creationId xmlns:a16="http://schemas.microsoft.com/office/drawing/2014/main" id="{5B05C668-F97C-49C6-B30B-E315FF7C8C8A}"/>
              </a:ext>
            </a:extLst>
          </p:cNvPr>
          <p:cNvSpPr txBox="1"/>
          <p:nvPr/>
        </p:nvSpPr>
        <p:spPr>
          <a:xfrm>
            <a:off x="8694056" y="3822831"/>
            <a:ext cx="3367314" cy="1600438"/>
          </a:xfrm>
          <a:prstGeom prst="rect">
            <a:avLst/>
          </a:prstGeom>
          <a:noFill/>
        </p:spPr>
        <p:txBody>
          <a:bodyPr wrap="square">
            <a:spAutoFit/>
          </a:bodyPr>
          <a:lstStyle/>
          <a:p>
            <a:pPr marL="342900" indent="-342900" algn="ctr">
              <a:buClr>
                <a:srgbClr val="FFFFFF"/>
              </a:buClr>
              <a:buAutoNum type="arabicPeriod"/>
            </a:pPr>
            <a:r>
              <a:rPr lang="en-US" sz="1400" b="1" dirty="0">
                <a:ea typeface="+mn-lt"/>
                <a:cs typeface="+mn-lt"/>
              </a:rPr>
              <a:t>Ensure intelligent escalation based on risk, role, and internal policies. </a:t>
            </a:r>
            <a:r>
              <a:rPr lang="en-US" sz="1400" dirty="0">
                <a:ea typeface="+mn-lt"/>
                <a:cs typeface="+mn-lt"/>
              </a:rPr>
              <a:t>The orchestrator validates whether the user has the appropriate profile to perform the action. If not, the request is escalated to a human with a clear explanation.</a:t>
            </a:r>
            <a:endParaRPr lang="es-MX" sz="1400" dirty="0">
              <a:ea typeface="+mn-lt"/>
              <a:cs typeface="+mn-lt"/>
            </a:endParaRPr>
          </a:p>
        </p:txBody>
      </p:sp>
      <p:sp>
        <p:nvSpPr>
          <p:cNvPr id="12" name="CuadroTexto 11">
            <a:extLst>
              <a:ext uri="{FF2B5EF4-FFF2-40B4-BE49-F238E27FC236}">
                <a16:creationId xmlns:a16="http://schemas.microsoft.com/office/drawing/2014/main" id="{71F60D87-9F3A-4A1B-BFD0-DDF4E35FBE25}"/>
              </a:ext>
            </a:extLst>
          </p:cNvPr>
          <p:cNvSpPr txBox="1"/>
          <p:nvPr/>
        </p:nvSpPr>
        <p:spPr>
          <a:xfrm>
            <a:off x="4322253" y="1673085"/>
            <a:ext cx="3547494" cy="1384995"/>
          </a:xfrm>
          <a:prstGeom prst="rect">
            <a:avLst/>
          </a:prstGeom>
          <a:noFill/>
        </p:spPr>
        <p:txBody>
          <a:bodyPr wrap="square">
            <a:spAutoFit/>
          </a:bodyPr>
          <a:lstStyle/>
          <a:p>
            <a:pPr marL="342900" indent="-342900" algn="ctr">
              <a:buClr>
                <a:srgbClr val="FFFFFF"/>
              </a:buClr>
              <a:buAutoNum type="arabicPeriod"/>
            </a:pPr>
            <a:r>
              <a:rPr lang="en-US" sz="1400" b="1" dirty="0">
                <a:ea typeface="+mn-lt"/>
                <a:cs typeface="+mn-lt"/>
              </a:rPr>
              <a:t>Integrate AI + DevOps within a secure, transparent, and governed workflow. </a:t>
            </a:r>
            <a:r>
              <a:rPr lang="en-US" sz="1400" dirty="0">
                <a:ea typeface="+mn-lt"/>
                <a:cs typeface="+mn-lt"/>
              </a:rPr>
              <a:t>All actions are executed through Azure DevOps Pipelines, ensuring traceability, auditing, versioning, and complete technical evidence.</a:t>
            </a:r>
            <a:endParaRPr lang="es-MX" sz="1400" dirty="0">
              <a:ea typeface="+mn-lt"/>
              <a:cs typeface="+mn-lt"/>
            </a:endParaRPr>
          </a:p>
        </p:txBody>
      </p:sp>
      <p:sp>
        <p:nvSpPr>
          <p:cNvPr id="25" name="Arco 24">
            <a:extLst>
              <a:ext uri="{FF2B5EF4-FFF2-40B4-BE49-F238E27FC236}">
                <a16:creationId xmlns:a16="http://schemas.microsoft.com/office/drawing/2014/main" id="{F618DCC2-07A1-43FF-85BB-0F64E936C818}"/>
              </a:ext>
            </a:extLst>
          </p:cNvPr>
          <p:cNvSpPr/>
          <p:nvPr/>
        </p:nvSpPr>
        <p:spPr>
          <a:xfrm>
            <a:off x="2895600" y="3229851"/>
            <a:ext cx="6400800" cy="6073806"/>
          </a:xfrm>
          <a:prstGeom prst="arc">
            <a:avLst>
              <a:gd name="adj1" fmla="val 10760532"/>
              <a:gd name="adj2" fmla="val 0"/>
            </a:avLst>
          </a:prstGeom>
          <a:ln w="76200"/>
        </p:spPr>
        <p:style>
          <a:lnRef idx="1">
            <a:schemeClr val="dk1"/>
          </a:lnRef>
          <a:fillRef idx="0">
            <a:schemeClr val="dk1"/>
          </a:fillRef>
          <a:effectRef idx="0">
            <a:schemeClr val="dk1"/>
          </a:effectRef>
          <a:fontRef idx="minor">
            <a:schemeClr val="tx1"/>
          </a:fontRef>
        </p:style>
        <p:txBody>
          <a:bodyPr rtlCol="0" anchor="ctr"/>
          <a:lstStyle/>
          <a:p>
            <a:pPr algn="ctr"/>
            <a:endParaRPr lang="es-CO"/>
          </a:p>
        </p:txBody>
      </p:sp>
      <p:pic>
        <p:nvPicPr>
          <p:cNvPr id="3076" name="Picture 4" descr="Potenciar - Iconos gratis de flechas">
            <a:extLst>
              <a:ext uri="{FF2B5EF4-FFF2-40B4-BE49-F238E27FC236}">
                <a16:creationId xmlns:a16="http://schemas.microsoft.com/office/drawing/2014/main" id="{B621A120-4111-45CC-B601-D8C937E26D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560615" y="1974723"/>
            <a:ext cx="1905001" cy="1877437"/>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Iconos de Lupa para descargar gratis">
            <a:extLst>
              <a:ext uri="{FF2B5EF4-FFF2-40B4-BE49-F238E27FC236}">
                <a16:creationId xmlns:a16="http://schemas.microsoft.com/office/drawing/2014/main" id="{F97DBCE4-95C5-4AD2-AAF0-AA37C58963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9314" y="218250"/>
            <a:ext cx="1393371" cy="139917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SIRH Adequasys, Software de RRHH global, modular y personalizable">
            <a:extLst>
              <a:ext uri="{FF2B5EF4-FFF2-40B4-BE49-F238E27FC236}">
                <a16:creationId xmlns:a16="http://schemas.microsoft.com/office/drawing/2014/main" id="{4E8EB5A9-0226-4EA5-81C1-90054056F6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9703" y="2145431"/>
            <a:ext cx="1536020" cy="153602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Objetivo - Iconos gratis de márketing">
            <a:extLst>
              <a:ext uri="{FF2B5EF4-FFF2-40B4-BE49-F238E27FC236}">
                <a16:creationId xmlns:a16="http://schemas.microsoft.com/office/drawing/2014/main" id="{CF8C15BC-7380-49C1-B5C9-6DBB2E5316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2713" y="4687813"/>
            <a:ext cx="1309972" cy="1309972"/>
          </a:xfrm>
          <a:prstGeom prst="rect">
            <a:avLst/>
          </a:prstGeom>
          <a:noFill/>
          <a:extLst>
            <a:ext uri="{909E8E84-426E-40DD-AFC4-6F175D3DCCD1}">
              <a14:hiddenFill xmlns:a14="http://schemas.microsoft.com/office/drawing/2010/main">
                <a:solidFill>
                  <a:srgbClr val="FFFFFF"/>
                </a:solidFill>
              </a14:hiddenFill>
            </a:ext>
          </a:extLst>
        </p:spPr>
      </p:pic>
      <p:sp>
        <p:nvSpPr>
          <p:cNvPr id="32" name="CuadroTexto 31">
            <a:extLst>
              <a:ext uri="{FF2B5EF4-FFF2-40B4-BE49-F238E27FC236}">
                <a16:creationId xmlns:a16="http://schemas.microsoft.com/office/drawing/2014/main" id="{3313B2AD-CFF1-424B-A8AB-B6B6F9C27736}"/>
              </a:ext>
            </a:extLst>
          </p:cNvPr>
          <p:cNvSpPr txBox="1"/>
          <p:nvPr/>
        </p:nvSpPr>
        <p:spPr>
          <a:xfrm>
            <a:off x="3900075" y="5948917"/>
            <a:ext cx="4475248" cy="769441"/>
          </a:xfrm>
          <a:prstGeom prst="rect">
            <a:avLst/>
          </a:prstGeom>
          <a:noFill/>
        </p:spPr>
        <p:txBody>
          <a:bodyPr wrap="square">
            <a:spAutoFit/>
          </a:bodyPr>
          <a:lstStyle/>
          <a:p>
            <a:pPr marL="342900" indent="-342900" algn="ctr">
              <a:buClr>
                <a:srgbClr val="FFFFFF"/>
              </a:buClr>
              <a:buAutoNum type="arabicPeriod"/>
            </a:pPr>
            <a:r>
              <a:rPr lang="en-US" sz="4400" dirty="0">
                <a:latin typeface="+mj-lt"/>
                <a:ea typeface="+mn-lt"/>
                <a:cs typeface="+mn-lt"/>
              </a:rPr>
              <a:t>Key Objectives</a:t>
            </a:r>
          </a:p>
        </p:txBody>
      </p:sp>
      <p:pic>
        <p:nvPicPr>
          <p:cNvPr id="33" name="Picture 6" descr="Microsoft | Microsoft Wiki | Fandom">
            <a:extLst>
              <a:ext uri="{FF2B5EF4-FFF2-40B4-BE49-F238E27FC236}">
                <a16:creationId xmlns:a16="http://schemas.microsoft.com/office/drawing/2014/main" id="{06A5DDA2-D7C3-41B5-99F7-4C27535760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Logo de Código Facilito">
            <a:extLst>
              <a:ext uri="{FF2B5EF4-FFF2-40B4-BE49-F238E27FC236}">
                <a16:creationId xmlns:a16="http://schemas.microsoft.com/office/drawing/2014/main" id="{C1EF5C82-AE20-434A-BA05-BA44190A06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9973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Rectángulo - Iconos gratis de formas y simbolos">
            <a:extLst>
              <a:ext uri="{FF2B5EF4-FFF2-40B4-BE49-F238E27FC236}">
                <a16:creationId xmlns:a16="http://schemas.microsoft.com/office/drawing/2014/main" id="{99982055-A698-4D6C-8C46-D931336B2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1087" y="1158148"/>
            <a:ext cx="2803074" cy="2803074"/>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1C9754AE-EA9F-4D4F-AED2-B6C8B60FC130}"/>
              </a:ext>
            </a:extLst>
          </p:cNvPr>
          <p:cNvSpPr txBox="1"/>
          <p:nvPr/>
        </p:nvSpPr>
        <p:spPr>
          <a:xfrm>
            <a:off x="130630" y="3429000"/>
            <a:ext cx="2931886" cy="1815882"/>
          </a:xfrm>
          <a:prstGeom prst="rect">
            <a:avLst/>
          </a:prstGeom>
          <a:noFill/>
        </p:spPr>
        <p:txBody>
          <a:bodyPr wrap="square">
            <a:spAutoFit/>
          </a:bodyPr>
          <a:lstStyle/>
          <a:p>
            <a:pPr algn="ctr"/>
            <a:r>
              <a:rPr lang="en-US" sz="1400" b="1" dirty="0">
                <a:ea typeface="+mn-lt"/>
                <a:cs typeface="+mn-lt"/>
              </a:rPr>
              <a:t>Multichannel AI platform (Teams, Web, API, Bots) </a:t>
            </a:r>
            <a:r>
              <a:rPr lang="en-US" sz="1400" dirty="0">
                <a:ea typeface="+mn-lt"/>
                <a:cs typeface="+mn-lt"/>
              </a:rPr>
              <a:t>with the ability to handle requests across multiple channels using natural language. Users can request support from Teams, Web, APIs, or chatbots, while MCP agents understand and automatically process each request.</a:t>
            </a:r>
            <a:endParaRPr lang="es-MX" sz="1400" dirty="0">
              <a:ea typeface="+mn-lt"/>
              <a:cs typeface="+mn-lt"/>
            </a:endParaRPr>
          </a:p>
        </p:txBody>
      </p:sp>
      <p:sp>
        <p:nvSpPr>
          <p:cNvPr id="10" name="CuadroTexto 9">
            <a:extLst>
              <a:ext uri="{FF2B5EF4-FFF2-40B4-BE49-F238E27FC236}">
                <a16:creationId xmlns:a16="http://schemas.microsoft.com/office/drawing/2014/main" id="{5B05C668-F97C-49C6-B30B-E315FF7C8C8A}"/>
              </a:ext>
            </a:extLst>
          </p:cNvPr>
          <p:cNvSpPr txBox="1"/>
          <p:nvPr/>
        </p:nvSpPr>
        <p:spPr>
          <a:xfrm>
            <a:off x="8694056" y="3428563"/>
            <a:ext cx="3367314" cy="1600438"/>
          </a:xfrm>
          <a:prstGeom prst="rect">
            <a:avLst/>
          </a:prstGeom>
          <a:noFill/>
        </p:spPr>
        <p:txBody>
          <a:bodyPr wrap="square">
            <a:spAutoFit/>
          </a:bodyPr>
          <a:lstStyle/>
          <a:p>
            <a:pPr algn="ctr">
              <a:buClr>
                <a:srgbClr val="FFFFFF"/>
              </a:buClr>
            </a:pPr>
            <a:r>
              <a:rPr lang="en-US" sz="1400" b="1" dirty="0">
                <a:ea typeface="+mn-lt"/>
                <a:cs typeface="+mn-lt"/>
              </a:rPr>
              <a:t>Advanced integration with Azure DevOps (repos, pipelines, work items)</a:t>
            </a:r>
            <a:r>
              <a:rPr lang="en-US" sz="1400" dirty="0">
                <a:ea typeface="+mn-lt"/>
                <a:cs typeface="+mn-lt"/>
              </a:rPr>
              <a:t> that enables real operational actions such as creating tickets, running pipelines, managing repositories, and generating evidence, ensuring traceability, auditing, and secure end-to-end automation.</a:t>
            </a:r>
            <a:endParaRPr lang="es-MX" sz="1400" dirty="0">
              <a:ea typeface="+mn-lt"/>
              <a:cs typeface="+mn-lt"/>
            </a:endParaRPr>
          </a:p>
        </p:txBody>
      </p:sp>
      <p:sp>
        <p:nvSpPr>
          <p:cNvPr id="12" name="CuadroTexto 11">
            <a:extLst>
              <a:ext uri="{FF2B5EF4-FFF2-40B4-BE49-F238E27FC236}">
                <a16:creationId xmlns:a16="http://schemas.microsoft.com/office/drawing/2014/main" id="{71F60D87-9F3A-4A1B-BFD0-DDF4E35FBE25}"/>
              </a:ext>
            </a:extLst>
          </p:cNvPr>
          <p:cNvSpPr txBox="1"/>
          <p:nvPr/>
        </p:nvSpPr>
        <p:spPr>
          <a:xfrm>
            <a:off x="4338877" y="5107880"/>
            <a:ext cx="3547494" cy="1384995"/>
          </a:xfrm>
          <a:prstGeom prst="rect">
            <a:avLst/>
          </a:prstGeom>
          <a:noFill/>
        </p:spPr>
        <p:txBody>
          <a:bodyPr wrap="square">
            <a:spAutoFit/>
          </a:bodyPr>
          <a:lstStyle/>
          <a:p>
            <a:pPr algn="ctr">
              <a:buClr>
                <a:srgbClr val="FFFFFF"/>
              </a:buClr>
            </a:pPr>
            <a:r>
              <a:rPr lang="en-US" sz="1400" b="1" dirty="0">
                <a:ea typeface="+mn-lt"/>
                <a:cs typeface="+mn-lt"/>
              </a:rPr>
              <a:t>Orchestrator with corporate policies + MCP agent</a:t>
            </a:r>
            <a:r>
              <a:rPr lang="en-US" sz="1400" dirty="0">
                <a:ea typeface="+mn-lt"/>
                <a:cs typeface="+mn-lt"/>
              </a:rPr>
              <a:t>, which applies formal organizational policies to determine whether an action can be resolved automatically or should be escalated, ensuring security, compliance, and governance.</a:t>
            </a:r>
            <a:endParaRPr lang="es-MX" sz="1400" dirty="0">
              <a:ea typeface="+mn-lt"/>
              <a:cs typeface="+mn-lt"/>
            </a:endParaRPr>
          </a:p>
        </p:txBody>
      </p:sp>
      <p:pic>
        <p:nvPicPr>
          <p:cNvPr id="33" name="Picture 6" descr="Microsoft | Microsoft Wiki | Fandom">
            <a:extLst>
              <a:ext uri="{FF2B5EF4-FFF2-40B4-BE49-F238E27FC236}">
                <a16:creationId xmlns:a16="http://schemas.microsoft.com/office/drawing/2014/main" id="{06A5DDA2-D7C3-41B5-99F7-4C27535760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Logo de Código Facilito">
            <a:extLst>
              <a:ext uri="{FF2B5EF4-FFF2-40B4-BE49-F238E27FC236}">
                <a16:creationId xmlns:a16="http://schemas.microsoft.com/office/drawing/2014/main" id="{C1EF5C82-AE20-434A-BA05-BA44190A06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Configure microsoft azure devops para su empresa.">
            <a:extLst>
              <a:ext uri="{FF2B5EF4-FFF2-40B4-BE49-F238E27FC236}">
                <a16:creationId xmlns:a16="http://schemas.microsoft.com/office/drawing/2014/main" id="{3E0D365F-2953-4040-96B7-D3EFD81421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48463" y="2045544"/>
            <a:ext cx="2058499" cy="128293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eams - Tecnología | Universidad de los Andes">
            <a:extLst>
              <a:ext uri="{FF2B5EF4-FFF2-40B4-BE49-F238E27FC236}">
                <a16:creationId xmlns:a16="http://schemas.microsoft.com/office/drawing/2014/main" id="{378FEE98-3A63-4497-8FC1-FDF70596D8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8314" y="2040963"/>
            <a:ext cx="1316517" cy="12875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MCP Servers:A Comprehensive Guide">
            <a:extLst>
              <a:ext uri="{FF2B5EF4-FFF2-40B4-BE49-F238E27FC236}">
                <a16:creationId xmlns:a16="http://schemas.microsoft.com/office/drawing/2014/main" id="{1F398FAE-355D-4661-9FCC-0DF3D0D5DF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0113" y="3854123"/>
            <a:ext cx="1765527" cy="117487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15" name="Imagen 14" descr="Logotipo, nombre de la empresa&#10;&#10;Descripción generada automáticamente">
            <a:extLst>
              <a:ext uri="{FF2B5EF4-FFF2-40B4-BE49-F238E27FC236}">
                <a16:creationId xmlns:a16="http://schemas.microsoft.com/office/drawing/2014/main" id="{51BD4FC9-CD56-4048-A759-EFD443417410}"/>
              </a:ext>
            </a:extLst>
          </p:cNvPr>
          <p:cNvPicPr>
            <a:picLocks noChangeAspect="1"/>
          </p:cNvPicPr>
          <p:nvPr/>
        </p:nvPicPr>
        <p:blipFill rotWithShape="1">
          <a:blip r:embed="rId8">
            <a:extLst>
              <a:ext uri="{28A0092B-C50C-407E-A947-70E740481C1C}">
                <a14:useLocalDpi xmlns:a14="http://schemas.microsoft.com/office/drawing/2010/main" val="0"/>
              </a:ext>
            </a:extLst>
          </a:blip>
          <a:srcRect t="16967"/>
          <a:stretch/>
        </p:blipFill>
        <p:spPr>
          <a:xfrm>
            <a:off x="5229860" y="1895293"/>
            <a:ext cx="1726035" cy="1433189"/>
          </a:xfrm>
          <a:prstGeom prst="rect">
            <a:avLst/>
          </a:prstGeom>
        </p:spPr>
      </p:pic>
      <p:sp>
        <p:nvSpPr>
          <p:cNvPr id="5" name="Título 4">
            <a:extLst>
              <a:ext uri="{FF2B5EF4-FFF2-40B4-BE49-F238E27FC236}">
                <a16:creationId xmlns:a16="http://schemas.microsoft.com/office/drawing/2014/main" id="{3F3465DB-13F8-46E7-8DF6-3EAE98C5F68C}"/>
              </a:ext>
            </a:extLst>
          </p:cNvPr>
          <p:cNvSpPr>
            <a:spLocks noGrp="1"/>
          </p:cNvSpPr>
          <p:nvPr>
            <p:ph type="title"/>
          </p:nvPr>
        </p:nvSpPr>
        <p:spPr/>
        <p:txBody>
          <a:bodyPr/>
          <a:lstStyle/>
          <a:p>
            <a:pPr algn="ctr"/>
            <a:r>
              <a:rPr lang="en-US" dirty="0"/>
              <a:t>Features</a:t>
            </a:r>
          </a:p>
        </p:txBody>
      </p:sp>
    </p:spTree>
    <p:extLst>
      <p:ext uri="{BB962C8B-B14F-4D97-AF65-F5344CB8AC3E}">
        <p14:creationId xmlns:p14="http://schemas.microsoft.com/office/powerpoint/2010/main" val="1778273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a:extLst>
              <a:ext uri="{FF2B5EF4-FFF2-40B4-BE49-F238E27FC236}">
                <a16:creationId xmlns:a16="http://schemas.microsoft.com/office/drawing/2014/main" id="{FC1CC92E-2AF4-443C-950E-FE31CB6E7015}"/>
              </a:ext>
            </a:extLst>
          </p:cNvPr>
          <p:cNvPicPr>
            <a:picLocks noGrp="1" noChangeAspect="1"/>
          </p:cNvPicPr>
          <p:nvPr>
            <p:ph idx="1"/>
          </p:nvPr>
        </p:nvPicPr>
        <p:blipFill>
          <a:blip r:embed="rId2"/>
          <a:stretch>
            <a:fillRect/>
          </a:stretch>
        </p:blipFill>
        <p:spPr>
          <a:xfrm>
            <a:off x="1997776" y="1630141"/>
            <a:ext cx="8196448" cy="3910484"/>
          </a:xfrm>
        </p:spPr>
      </p:pic>
      <p:pic>
        <p:nvPicPr>
          <p:cNvPr id="4" name="Picture 6" descr="Microsoft | Microsoft Wiki | Fandom">
            <a:extLst>
              <a:ext uri="{FF2B5EF4-FFF2-40B4-BE49-F238E27FC236}">
                <a16:creationId xmlns:a16="http://schemas.microsoft.com/office/drawing/2014/main" id="{7D45D9A5-245F-4B37-A122-8B0E03868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de Código Facilito">
            <a:extLst>
              <a:ext uri="{FF2B5EF4-FFF2-40B4-BE49-F238E27FC236}">
                <a16:creationId xmlns:a16="http://schemas.microsoft.com/office/drawing/2014/main" id="{0E251358-C4BD-447B-B316-59F203A95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7BFCBAAC-19F0-4C9F-A2E0-5AF7B47B5976}"/>
              </a:ext>
            </a:extLst>
          </p:cNvPr>
          <p:cNvSpPr txBox="1"/>
          <p:nvPr/>
        </p:nvSpPr>
        <p:spPr>
          <a:xfrm>
            <a:off x="2243292" y="557196"/>
            <a:ext cx="2212135" cy="1200329"/>
          </a:xfrm>
          <a:prstGeom prst="rect">
            <a:avLst/>
          </a:prstGeom>
          <a:noFill/>
        </p:spPr>
        <p:txBody>
          <a:bodyPr wrap="square">
            <a:spAutoFit/>
          </a:bodyPr>
          <a:lstStyle/>
          <a:p>
            <a:pPr algn="ctr"/>
            <a:r>
              <a:rPr lang="en-US" sz="1200" dirty="0">
                <a:ea typeface="+mn-lt"/>
                <a:cs typeface="+mn-lt"/>
              </a:rPr>
              <a:t>1. </a:t>
            </a:r>
            <a:r>
              <a:rPr lang="en-US" sz="1200" b="1" dirty="0">
                <a:ea typeface="+mn-lt"/>
                <a:cs typeface="+mn-lt"/>
              </a:rPr>
              <a:t>The user signs in and the system retrieves their permissions and role</a:t>
            </a:r>
            <a:r>
              <a:rPr lang="en-US" sz="1200" dirty="0">
                <a:ea typeface="+mn-lt"/>
                <a:cs typeface="+mn-lt"/>
              </a:rPr>
              <a:t>, automatically validating their position in the organizational chart and available access levels.</a:t>
            </a:r>
            <a:endParaRPr lang="es-MX" sz="1200" dirty="0">
              <a:ea typeface="+mn-lt"/>
              <a:cs typeface="+mn-lt"/>
            </a:endParaRPr>
          </a:p>
        </p:txBody>
      </p:sp>
      <p:sp>
        <p:nvSpPr>
          <p:cNvPr id="9" name="CuadroTexto 8">
            <a:extLst>
              <a:ext uri="{FF2B5EF4-FFF2-40B4-BE49-F238E27FC236}">
                <a16:creationId xmlns:a16="http://schemas.microsoft.com/office/drawing/2014/main" id="{FDAC2F1D-A503-4B53-A08D-EF77430A3B7F}"/>
              </a:ext>
            </a:extLst>
          </p:cNvPr>
          <p:cNvSpPr txBox="1"/>
          <p:nvPr/>
        </p:nvSpPr>
        <p:spPr>
          <a:xfrm>
            <a:off x="3349359" y="5366089"/>
            <a:ext cx="2746639" cy="1015663"/>
          </a:xfrm>
          <a:prstGeom prst="rect">
            <a:avLst/>
          </a:prstGeom>
          <a:noFill/>
        </p:spPr>
        <p:txBody>
          <a:bodyPr wrap="square">
            <a:spAutoFit/>
          </a:bodyPr>
          <a:lstStyle/>
          <a:p>
            <a:pPr algn="ctr"/>
            <a:r>
              <a:rPr lang="en-US" sz="1200" dirty="0"/>
              <a:t>2. </a:t>
            </a:r>
            <a:r>
              <a:rPr lang="en-US" sz="1200" b="1" dirty="0"/>
              <a:t>The user submits the request through Teams, Web, or Chatbot</a:t>
            </a:r>
            <a:r>
              <a:rPr lang="en-US" sz="1200" dirty="0"/>
              <a:t>, and the AI agent interprets it in natural language to identify the intent and the required action.</a:t>
            </a:r>
            <a:endParaRPr lang="es-MX" sz="1200" dirty="0">
              <a:ea typeface="+mn-lt"/>
              <a:cs typeface="+mn-lt"/>
            </a:endParaRPr>
          </a:p>
        </p:txBody>
      </p:sp>
      <p:sp>
        <p:nvSpPr>
          <p:cNvPr id="10" name="CuadroTexto 9">
            <a:extLst>
              <a:ext uri="{FF2B5EF4-FFF2-40B4-BE49-F238E27FC236}">
                <a16:creationId xmlns:a16="http://schemas.microsoft.com/office/drawing/2014/main" id="{5D2374E5-E709-44C8-BE2E-E25F26C8304D}"/>
              </a:ext>
            </a:extLst>
          </p:cNvPr>
          <p:cNvSpPr txBox="1"/>
          <p:nvPr/>
        </p:nvSpPr>
        <p:spPr>
          <a:xfrm>
            <a:off x="6341515" y="5366089"/>
            <a:ext cx="2212135" cy="1200329"/>
          </a:xfrm>
          <a:prstGeom prst="rect">
            <a:avLst/>
          </a:prstGeom>
          <a:noFill/>
        </p:spPr>
        <p:txBody>
          <a:bodyPr wrap="square">
            <a:spAutoFit/>
          </a:bodyPr>
          <a:lstStyle/>
          <a:p>
            <a:pPr algn="ctr"/>
            <a:r>
              <a:rPr lang="en-US" sz="1200" dirty="0"/>
              <a:t>4. </a:t>
            </a:r>
            <a:r>
              <a:rPr lang="en-US" sz="1200" b="1" dirty="0"/>
              <a:t>If the action is permitted</a:t>
            </a:r>
            <a:r>
              <a:rPr lang="en-US" sz="1200" dirty="0"/>
              <a:t>, the agent executes the process through Azure DevOps: creating tickets, running pipelines, or managing repositories, while recording all evidence.</a:t>
            </a:r>
            <a:endParaRPr lang="es-MX" sz="1200" dirty="0">
              <a:ea typeface="+mn-lt"/>
              <a:cs typeface="+mn-lt"/>
            </a:endParaRPr>
          </a:p>
        </p:txBody>
      </p:sp>
      <p:sp>
        <p:nvSpPr>
          <p:cNvPr id="14" name="CuadroTexto 13">
            <a:extLst>
              <a:ext uri="{FF2B5EF4-FFF2-40B4-BE49-F238E27FC236}">
                <a16:creationId xmlns:a16="http://schemas.microsoft.com/office/drawing/2014/main" id="{15217CDD-634D-4CDA-80FA-5CDFC19A412E}"/>
              </a:ext>
            </a:extLst>
          </p:cNvPr>
          <p:cNvSpPr txBox="1"/>
          <p:nvPr/>
        </p:nvSpPr>
        <p:spPr>
          <a:xfrm>
            <a:off x="4989931" y="557196"/>
            <a:ext cx="2212135" cy="1200329"/>
          </a:xfrm>
          <a:prstGeom prst="rect">
            <a:avLst/>
          </a:prstGeom>
          <a:noFill/>
        </p:spPr>
        <p:txBody>
          <a:bodyPr wrap="square">
            <a:spAutoFit/>
          </a:bodyPr>
          <a:lstStyle/>
          <a:p>
            <a:pPr algn="ctr"/>
            <a:r>
              <a:rPr lang="en-US" sz="1200" dirty="0"/>
              <a:t>3. </a:t>
            </a:r>
            <a:r>
              <a:rPr lang="en-US" sz="1200" b="1" dirty="0"/>
              <a:t>The orchestrator applies corporate policies</a:t>
            </a:r>
            <a:r>
              <a:rPr lang="en-US" sz="1200" dirty="0"/>
              <a:t>, evaluating whether the user is authorized to perform the action or if the request requires approval or escalation.</a:t>
            </a:r>
            <a:endParaRPr lang="es-MX" sz="1200" dirty="0">
              <a:ea typeface="+mn-lt"/>
              <a:cs typeface="+mn-lt"/>
            </a:endParaRPr>
          </a:p>
        </p:txBody>
      </p:sp>
      <p:sp>
        <p:nvSpPr>
          <p:cNvPr id="15" name="CuadroTexto 14">
            <a:extLst>
              <a:ext uri="{FF2B5EF4-FFF2-40B4-BE49-F238E27FC236}">
                <a16:creationId xmlns:a16="http://schemas.microsoft.com/office/drawing/2014/main" id="{41A3D450-F3B2-4BD1-B738-F132B745127C}"/>
              </a:ext>
            </a:extLst>
          </p:cNvPr>
          <p:cNvSpPr txBox="1"/>
          <p:nvPr/>
        </p:nvSpPr>
        <p:spPr>
          <a:xfrm>
            <a:off x="7592077" y="557196"/>
            <a:ext cx="2212135" cy="1200329"/>
          </a:xfrm>
          <a:prstGeom prst="rect">
            <a:avLst/>
          </a:prstGeom>
          <a:noFill/>
        </p:spPr>
        <p:txBody>
          <a:bodyPr wrap="square">
            <a:spAutoFit/>
          </a:bodyPr>
          <a:lstStyle/>
          <a:p>
            <a:r>
              <a:rPr lang="en-US" sz="1200" dirty="0"/>
              <a:t>5. </a:t>
            </a:r>
            <a:r>
              <a:rPr lang="en-US" sz="1200" b="1" dirty="0"/>
              <a:t>The system responds to the user with the outcome</a:t>
            </a:r>
            <a:r>
              <a:rPr lang="en-US" sz="1200" dirty="0"/>
              <a:t>, explaining what was done, why it was authorized (or why it was escalated), and documenting everything in the Work Item.</a:t>
            </a:r>
          </a:p>
        </p:txBody>
      </p:sp>
      <p:pic>
        <p:nvPicPr>
          <p:cNvPr id="2" name="Picture 2" descr="Crear agentes de Azure DevOps de manera dinámica con una pipeline  multi-stage - return(GiS);">
            <a:extLst>
              <a:ext uri="{FF2B5EF4-FFF2-40B4-BE49-F238E27FC236}">
                <a16:creationId xmlns:a16="http://schemas.microsoft.com/office/drawing/2014/main" id="{183A7525-893F-4B8D-90DE-B51795F9D3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2077" y="1814807"/>
            <a:ext cx="378619" cy="37861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Azure Boards | Slack Marketplace">
            <a:extLst>
              <a:ext uri="{FF2B5EF4-FFF2-40B4-BE49-F238E27FC236}">
                <a16:creationId xmlns:a16="http://schemas.microsoft.com/office/drawing/2014/main" id="{D6DC1373-91BC-4B88-AA7C-A6E069965A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92077" y="2289443"/>
            <a:ext cx="378619" cy="37861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Azure DevOps Repos: Branch Policies | by Eric Anderson | ITNEXT">
            <a:extLst>
              <a:ext uri="{FF2B5EF4-FFF2-40B4-BE49-F238E27FC236}">
                <a16:creationId xmlns:a16="http://schemas.microsoft.com/office/drawing/2014/main" id="{58C8EA4C-3A5F-4598-90A8-57B959740D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2077" y="2671210"/>
            <a:ext cx="378619" cy="37861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Teams - Tecnología | Universidad de los Andes">
            <a:extLst>
              <a:ext uri="{FF2B5EF4-FFF2-40B4-BE49-F238E27FC236}">
                <a16:creationId xmlns:a16="http://schemas.microsoft.com/office/drawing/2014/main" id="{D7FB8A06-9F56-43F6-9E6A-9DDA0D6BAE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5639" y="1864848"/>
            <a:ext cx="347561" cy="33990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descr="Encore's MCP Server enables your AI tools to introspect your application –  Encore Blog">
            <a:extLst>
              <a:ext uri="{FF2B5EF4-FFF2-40B4-BE49-F238E27FC236}">
                <a16:creationId xmlns:a16="http://schemas.microsoft.com/office/drawing/2014/main" id="{E2593ABD-76DC-40EE-9EAF-BF7A4C9F727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74744" y="1711222"/>
            <a:ext cx="585788" cy="58578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Configure microsoft azure devops para su empresa.">
            <a:extLst>
              <a:ext uri="{FF2B5EF4-FFF2-40B4-BE49-F238E27FC236}">
                <a16:creationId xmlns:a16="http://schemas.microsoft.com/office/drawing/2014/main" id="{58D7B4CE-94E1-496B-A91C-7FB2D374F8A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5998" y="4150986"/>
            <a:ext cx="607502" cy="378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570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arcador de contenido 8" descr="Diagrama, Aplicación&#10;&#10;Descripción generada automáticamente">
            <a:extLst>
              <a:ext uri="{FF2B5EF4-FFF2-40B4-BE49-F238E27FC236}">
                <a16:creationId xmlns:a16="http://schemas.microsoft.com/office/drawing/2014/main" id="{47BE7BCD-12C6-4EC2-A29D-CB51C35EE791}"/>
              </a:ext>
            </a:extLst>
          </p:cNvPr>
          <p:cNvPicPr>
            <a:picLocks noChangeAspect="1"/>
          </p:cNvPicPr>
          <p:nvPr/>
        </p:nvPicPr>
        <p:blipFill rotWithShape="1">
          <a:blip r:embed="rId2">
            <a:extLst>
              <a:ext uri="{28A0092B-C50C-407E-A947-70E740481C1C}">
                <a14:useLocalDpi xmlns:a14="http://schemas.microsoft.com/office/drawing/2010/main" val="0"/>
              </a:ext>
            </a:extLst>
          </a:blip>
          <a:srcRect t="9205"/>
          <a:stretch/>
        </p:blipFill>
        <p:spPr>
          <a:xfrm>
            <a:off x="6010275" y="4056429"/>
            <a:ext cx="6181725" cy="2801571"/>
          </a:xfrm>
          <a:prstGeom prst="rect">
            <a:avLst/>
          </a:prstGeom>
        </p:spPr>
      </p:pic>
      <p:sp>
        <p:nvSpPr>
          <p:cNvPr id="2" name="Título 1">
            <a:extLst>
              <a:ext uri="{FF2B5EF4-FFF2-40B4-BE49-F238E27FC236}">
                <a16:creationId xmlns:a16="http://schemas.microsoft.com/office/drawing/2014/main" id="{A61584EB-CE43-4ABC-AF2F-05BD2CB18B46}"/>
              </a:ext>
            </a:extLst>
          </p:cNvPr>
          <p:cNvSpPr>
            <a:spLocks noGrp="1"/>
          </p:cNvSpPr>
          <p:nvPr>
            <p:ph type="title"/>
          </p:nvPr>
        </p:nvSpPr>
        <p:spPr/>
        <p:txBody>
          <a:bodyPr/>
          <a:lstStyle/>
          <a:p>
            <a:r>
              <a:rPr lang="en-US" dirty="0">
                <a:cs typeface="Calibri Light"/>
              </a:rPr>
              <a:t>Architecture &amp; Process Flow </a:t>
            </a:r>
            <a:endParaRPr lang="en-US" dirty="0"/>
          </a:p>
        </p:txBody>
      </p:sp>
      <p:pic>
        <p:nvPicPr>
          <p:cNvPr id="4" name="Picture 6" descr="Microsoft | Microsoft Wiki | Fandom">
            <a:extLst>
              <a:ext uri="{FF2B5EF4-FFF2-40B4-BE49-F238E27FC236}">
                <a16:creationId xmlns:a16="http://schemas.microsoft.com/office/drawing/2014/main" id="{6DBF9A4A-E0FC-4988-AA4C-78F7031B7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de Código Facilito">
            <a:extLst>
              <a:ext uri="{FF2B5EF4-FFF2-40B4-BE49-F238E27FC236}">
                <a16:creationId xmlns:a16="http://schemas.microsoft.com/office/drawing/2014/main" id="{D3F29ABD-2778-4481-A95D-3AFE647D0A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pic>
        <p:nvPicPr>
          <p:cNvPr id="7" name="Marcador de contenido 6" descr="Interfaz de usuario gráfica, Diagrama&#10;&#10;Descripción generada automáticamente">
            <a:extLst>
              <a:ext uri="{FF2B5EF4-FFF2-40B4-BE49-F238E27FC236}">
                <a16:creationId xmlns:a16="http://schemas.microsoft.com/office/drawing/2014/main" id="{A3DF2A79-2768-4D77-A65C-183D692697E5}"/>
              </a:ext>
            </a:extLst>
          </p:cNvPr>
          <p:cNvPicPr>
            <a:picLocks noGrp="1" noChangeAspect="1"/>
          </p:cNvPicPr>
          <p:nvPr>
            <p:ph idx="1"/>
          </p:nvPr>
        </p:nvPicPr>
        <p:blipFill rotWithShape="1">
          <a:blip r:embed="rId5">
            <a:extLst>
              <a:ext uri="{28A0092B-C50C-407E-A947-70E740481C1C}">
                <a14:useLocalDpi xmlns:a14="http://schemas.microsoft.com/office/drawing/2010/main" val="0"/>
              </a:ext>
            </a:extLst>
          </a:blip>
          <a:srcRect t="17905"/>
          <a:stretch/>
        </p:blipFill>
        <p:spPr>
          <a:xfrm>
            <a:off x="0" y="1586082"/>
            <a:ext cx="8230857" cy="2487695"/>
          </a:xfrm>
        </p:spPr>
      </p:pic>
    </p:spTree>
    <p:extLst>
      <p:ext uri="{BB962C8B-B14F-4D97-AF65-F5344CB8AC3E}">
        <p14:creationId xmlns:p14="http://schemas.microsoft.com/office/powerpoint/2010/main" val="2551392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584EB-CE43-4ABC-AF2F-05BD2CB18B46}"/>
              </a:ext>
            </a:extLst>
          </p:cNvPr>
          <p:cNvSpPr>
            <a:spLocks noGrp="1"/>
          </p:cNvSpPr>
          <p:nvPr>
            <p:ph type="title"/>
          </p:nvPr>
        </p:nvSpPr>
        <p:spPr/>
        <p:txBody>
          <a:bodyPr/>
          <a:lstStyle/>
          <a:p>
            <a:r>
              <a:rPr lang="es-CO" dirty="0" err="1"/>
              <a:t>Scenario</a:t>
            </a:r>
            <a:r>
              <a:rPr lang="es-CO" dirty="0"/>
              <a:t>: </a:t>
            </a:r>
            <a:r>
              <a:rPr lang="en-US" dirty="0"/>
              <a:t>Create and import a repository in </a:t>
            </a:r>
            <a:r>
              <a:rPr lang="es-CO" dirty="0"/>
              <a:t>Azure DevOps </a:t>
            </a:r>
          </a:p>
        </p:txBody>
      </p:sp>
      <p:pic>
        <p:nvPicPr>
          <p:cNvPr id="4" name="Picture 6" descr="Microsoft | Microsoft Wiki | Fandom">
            <a:extLst>
              <a:ext uri="{FF2B5EF4-FFF2-40B4-BE49-F238E27FC236}">
                <a16:creationId xmlns:a16="http://schemas.microsoft.com/office/drawing/2014/main" id="{6DBF9A4A-E0FC-4988-AA4C-78F7031B7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de Código Facilito">
            <a:extLst>
              <a:ext uri="{FF2B5EF4-FFF2-40B4-BE49-F238E27FC236}">
                <a16:creationId xmlns:a16="http://schemas.microsoft.com/office/drawing/2014/main" id="{D3F29ABD-2778-4481-A95D-3AFE647D0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pic>
        <p:nvPicPr>
          <p:cNvPr id="8" name="Marcador de contenido 7">
            <a:extLst>
              <a:ext uri="{FF2B5EF4-FFF2-40B4-BE49-F238E27FC236}">
                <a16:creationId xmlns:a16="http://schemas.microsoft.com/office/drawing/2014/main" id="{0442677C-81AA-4A8C-8D74-C59C355D9F9B}"/>
              </a:ext>
            </a:extLst>
          </p:cNvPr>
          <p:cNvPicPr>
            <a:picLocks noGrp="1" noChangeAspect="1"/>
          </p:cNvPicPr>
          <p:nvPr>
            <p:ph idx="1"/>
          </p:nvPr>
        </p:nvPicPr>
        <p:blipFill rotWithShape="1">
          <a:blip r:embed="rId4"/>
          <a:srcRect t="146" r="470"/>
          <a:stretch/>
        </p:blipFill>
        <p:spPr>
          <a:xfrm>
            <a:off x="3074764" y="1879436"/>
            <a:ext cx="8842822" cy="4351338"/>
          </a:xfrm>
          <a:prstGeom prst="rect">
            <a:avLst/>
          </a:prstGeom>
          <a:ln>
            <a:noFill/>
          </a:ln>
          <a:effectLst>
            <a:outerShdw blurRad="190500" algn="tl" rotWithShape="0">
              <a:srgbClr val="000000">
                <a:alpha val="70000"/>
              </a:srgbClr>
            </a:outerShdw>
          </a:effectLst>
        </p:spPr>
      </p:pic>
      <p:sp>
        <p:nvSpPr>
          <p:cNvPr id="11" name="CuadroTexto 10">
            <a:extLst>
              <a:ext uri="{FF2B5EF4-FFF2-40B4-BE49-F238E27FC236}">
                <a16:creationId xmlns:a16="http://schemas.microsoft.com/office/drawing/2014/main" id="{F234793F-2184-4A21-A11B-16AF6B672EBB}"/>
              </a:ext>
            </a:extLst>
          </p:cNvPr>
          <p:cNvSpPr txBox="1"/>
          <p:nvPr/>
        </p:nvSpPr>
        <p:spPr>
          <a:xfrm>
            <a:off x="659912" y="2623944"/>
            <a:ext cx="2076450" cy="2862322"/>
          </a:xfrm>
          <a:prstGeom prst="rect">
            <a:avLst/>
          </a:prstGeom>
          <a:noFill/>
        </p:spPr>
        <p:txBody>
          <a:bodyPr wrap="square">
            <a:spAutoFit/>
          </a:bodyPr>
          <a:lstStyle/>
          <a:p>
            <a:r>
              <a:rPr lang="en-US" dirty="0"/>
              <a:t>Input: Create and import a repository named web-app under the project HackathonNov2025, and import it from this </a:t>
            </a:r>
            <a:r>
              <a:rPr lang="en-US" dirty="0">
                <a:hlinkClick r:id="rId5"/>
              </a:rPr>
              <a:t>URL:https://github.com/dsantafe/HttpClientDemo</a:t>
            </a:r>
            <a:r>
              <a:rPr lang="en-US" dirty="0"/>
              <a:t>  </a:t>
            </a:r>
          </a:p>
        </p:txBody>
      </p:sp>
    </p:spTree>
    <p:extLst>
      <p:ext uri="{BB962C8B-B14F-4D97-AF65-F5344CB8AC3E}">
        <p14:creationId xmlns:p14="http://schemas.microsoft.com/office/powerpoint/2010/main" val="185752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584EB-CE43-4ABC-AF2F-05BD2CB18B46}"/>
              </a:ext>
            </a:extLst>
          </p:cNvPr>
          <p:cNvSpPr>
            <a:spLocks noGrp="1"/>
          </p:cNvSpPr>
          <p:nvPr>
            <p:ph type="title"/>
          </p:nvPr>
        </p:nvSpPr>
        <p:spPr/>
        <p:txBody>
          <a:bodyPr/>
          <a:lstStyle/>
          <a:p>
            <a:r>
              <a:rPr lang="es-MX" sz="4400" dirty="0"/>
              <a:t>NexusDesk Copilot – </a:t>
            </a:r>
            <a:r>
              <a:rPr lang="es-CO" sz="4400" dirty="0"/>
              <a:t>R</a:t>
            </a:r>
            <a:r>
              <a:rPr lang="es-CO" dirty="0"/>
              <a:t>esponsable AI</a:t>
            </a:r>
          </a:p>
        </p:txBody>
      </p:sp>
      <p:pic>
        <p:nvPicPr>
          <p:cNvPr id="4" name="Picture 6" descr="Microsoft | Microsoft Wiki | Fandom">
            <a:extLst>
              <a:ext uri="{FF2B5EF4-FFF2-40B4-BE49-F238E27FC236}">
                <a16:creationId xmlns:a16="http://schemas.microsoft.com/office/drawing/2014/main" id="{6DBF9A4A-E0FC-4988-AA4C-78F7031B7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de Código Facilito">
            <a:extLst>
              <a:ext uri="{FF2B5EF4-FFF2-40B4-BE49-F238E27FC236}">
                <a16:creationId xmlns:a16="http://schemas.microsoft.com/office/drawing/2014/main" id="{D3F29ABD-2778-4481-A95D-3AFE647D0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C06FD6B1-286F-4F7B-8EC4-646D2C8BB7BB}"/>
              </a:ext>
            </a:extLst>
          </p:cNvPr>
          <p:cNvSpPr txBox="1"/>
          <p:nvPr/>
        </p:nvSpPr>
        <p:spPr>
          <a:xfrm>
            <a:off x="794760" y="3121082"/>
            <a:ext cx="2212135" cy="1785104"/>
          </a:xfrm>
          <a:prstGeom prst="rect">
            <a:avLst/>
          </a:prstGeom>
          <a:noFill/>
        </p:spPr>
        <p:txBody>
          <a:bodyPr wrap="square">
            <a:spAutoFit/>
          </a:bodyPr>
          <a:lstStyle/>
          <a:p>
            <a:pPr algn="ctr"/>
            <a:r>
              <a:rPr lang="en-US" sz="1100" b="1"/>
              <a:t>Fairness:</a:t>
            </a:r>
            <a:r>
              <a:rPr lang="en-US" sz="1100"/>
              <a:t> Ensure fairness by basing all decisions on corporate policies, defined roles, and permissions, eliminating subjective or human bias. Requests are processed consistently and uniformly for all employees, ensuring that access to resources or the execution of actions is granted solely according to formal and verifiable criteria.</a:t>
            </a:r>
            <a:endParaRPr lang="es-MX" sz="1100" dirty="0">
              <a:ea typeface="+mn-lt"/>
              <a:cs typeface="+mn-lt"/>
            </a:endParaRPr>
          </a:p>
        </p:txBody>
      </p:sp>
      <p:sp>
        <p:nvSpPr>
          <p:cNvPr id="8" name="CuadroTexto 7">
            <a:extLst>
              <a:ext uri="{FF2B5EF4-FFF2-40B4-BE49-F238E27FC236}">
                <a16:creationId xmlns:a16="http://schemas.microsoft.com/office/drawing/2014/main" id="{99A32DAC-7349-40EA-93ED-76DD7C268EE1}"/>
              </a:ext>
            </a:extLst>
          </p:cNvPr>
          <p:cNvSpPr txBox="1"/>
          <p:nvPr/>
        </p:nvSpPr>
        <p:spPr>
          <a:xfrm>
            <a:off x="3171488" y="4507205"/>
            <a:ext cx="2212135" cy="1708160"/>
          </a:xfrm>
          <a:prstGeom prst="rect">
            <a:avLst/>
          </a:prstGeom>
          <a:noFill/>
        </p:spPr>
        <p:txBody>
          <a:bodyPr wrap="square">
            <a:spAutoFit/>
          </a:bodyPr>
          <a:lstStyle/>
          <a:p>
            <a:pPr algn="ctr"/>
            <a:r>
              <a:rPr lang="en-US" sz="1050" b="1"/>
              <a:t>Reliability and Security:</a:t>
            </a:r>
            <a:r>
              <a:rPr lang="en-US" sz="1050"/>
              <a:t> Ensure that all actions are executed exclusively through controlled and audited Azure DevOps pipelines, preventing direct or unexpected access. Each operation includes pre-execution validations, secure execution, full traceability, and technical evidence, guaranteeing operational safety and reducing risks.</a:t>
            </a:r>
            <a:endParaRPr lang="es-MX" sz="1050" dirty="0">
              <a:ea typeface="+mn-lt"/>
              <a:cs typeface="+mn-lt"/>
            </a:endParaRPr>
          </a:p>
        </p:txBody>
      </p:sp>
      <p:sp>
        <p:nvSpPr>
          <p:cNvPr id="16" name="CuadroTexto 15">
            <a:extLst>
              <a:ext uri="{FF2B5EF4-FFF2-40B4-BE49-F238E27FC236}">
                <a16:creationId xmlns:a16="http://schemas.microsoft.com/office/drawing/2014/main" id="{CD443A57-72EF-4DE6-8049-1087DEA84758}"/>
              </a:ext>
            </a:extLst>
          </p:cNvPr>
          <p:cNvSpPr txBox="1"/>
          <p:nvPr/>
        </p:nvSpPr>
        <p:spPr>
          <a:xfrm>
            <a:off x="5776359" y="3288866"/>
            <a:ext cx="2212135" cy="2123658"/>
          </a:xfrm>
          <a:prstGeom prst="rect">
            <a:avLst/>
          </a:prstGeom>
          <a:noFill/>
        </p:spPr>
        <p:txBody>
          <a:bodyPr wrap="square">
            <a:spAutoFit/>
          </a:bodyPr>
          <a:lstStyle/>
          <a:p>
            <a:pPr algn="ctr"/>
            <a:r>
              <a:rPr lang="en-US" sz="1100" b="1"/>
              <a:t>Privacy and Data Security:</a:t>
            </a:r>
            <a:r>
              <a:rPr lang="en-US" sz="1100"/>
              <a:t> Maintain privacy by using only the information necessary to validate the employee’s permissions and role, without storing personal data outside authorized channels. All communication with Azure DevOps uses encrypted credentials, and access is restricted and auditable, ensuring compliance with internal policies and data protection standards.</a:t>
            </a:r>
            <a:endParaRPr lang="es-MX" sz="1100" dirty="0">
              <a:ea typeface="+mn-lt"/>
              <a:cs typeface="+mn-lt"/>
            </a:endParaRPr>
          </a:p>
        </p:txBody>
      </p:sp>
      <p:sp>
        <p:nvSpPr>
          <p:cNvPr id="18" name="CuadroTexto 17">
            <a:extLst>
              <a:ext uri="{FF2B5EF4-FFF2-40B4-BE49-F238E27FC236}">
                <a16:creationId xmlns:a16="http://schemas.microsoft.com/office/drawing/2014/main" id="{FF1DDC83-35D6-4A2F-B1BD-31389F64AB60}"/>
              </a:ext>
            </a:extLst>
          </p:cNvPr>
          <p:cNvSpPr txBox="1"/>
          <p:nvPr/>
        </p:nvSpPr>
        <p:spPr>
          <a:xfrm>
            <a:off x="8630307" y="4507205"/>
            <a:ext cx="2668813" cy="1446550"/>
          </a:xfrm>
          <a:prstGeom prst="rect">
            <a:avLst/>
          </a:prstGeom>
          <a:noFill/>
        </p:spPr>
        <p:txBody>
          <a:bodyPr wrap="square">
            <a:spAutoFit/>
          </a:bodyPr>
          <a:lstStyle/>
          <a:p>
            <a:pPr algn="ctr"/>
            <a:r>
              <a:rPr lang="en-US" sz="1100" b="1"/>
              <a:t>Inclusion:</a:t>
            </a:r>
            <a:r>
              <a:rPr lang="en-US" sz="1100"/>
              <a:t> Design the system so that any employee, regardless of technical background, can interact in natural language through multiple channels such as Teams, Web, or Chatbots. Responses are clear, accessible, and easy to understand so that any user can follow the process and its outcome without technical knowledge.</a:t>
            </a:r>
            <a:endParaRPr lang="es-MX" sz="1100" dirty="0">
              <a:ea typeface="+mn-lt"/>
              <a:cs typeface="+mn-lt"/>
            </a:endParaRPr>
          </a:p>
        </p:txBody>
      </p:sp>
      <p:pic>
        <p:nvPicPr>
          <p:cNvPr id="21" name="Imagen 20">
            <a:extLst>
              <a:ext uri="{FF2B5EF4-FFF2-40B4-BE49-F238E27FC236}">
                <a16:creationId xmlns:a16="http://schemas.microsoft.com/office/drawing/2014/main" id="{BD0AD10E-93D3-4DBB-A198-B17D66C34B2D}"/>
              </a:ext>
            </a:extLst>
          </p:cNvPr>
          <p:cNvPicPr>
            <a:picLocks noChangeAspect="1"/>
          </p:cNvPicPr>
          <p:nvPr/>
        </p:nvPicPr>
        <p:blipFill>
          <a:blip r:embed="rId4"/>
          <a:stretch>
            <a:fillRect/>
          </a:stretch>
        </p:blipFill>
        <p:spPr>
          <a:xfrm>
            <a:off x="1257891" y="1564697"/>
            <a:ext cx="1285875" cy="13239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3" name="Imagen 22">
            <a:extLst>
              <a:ext uri="{FF2B5EF4-FFF2-40B4-BE49-F238E27FC236}">
                <a16:creationId xmlns:a16="http://schemas.microsoft.com/office/drawing/2014/main" id="{F715CCCD-0B67-4FF0-BAB1-11434EC43046}"/>
              </a:ext>
            </a:extLst>
          </p:cNvPr>
          <p:cNvPicPr>
            <a:picLocks noChangeAspect="1"/>
          </p:cNvPicPr>
          <p:nvPr/>
        </p:nvPicPr>
        <p:blipFill>
          <a:blip r:embed="rId5"/>
          <a:stretch>
            <a:fillRect/>
          </a:stretch>
        </p:blipFill>
        <p:spPr>
          <a:xfrm>
            <a:off x="3639381" y="2762250"/>
            <a:ext cx="1276350" cy="1333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Imagen 24">
            <a:extLst>
              <a:ext uri="{FF2B5EF4-FFF2-40B4-BE49-F238E27FC236}">
                <a16:creationId xmlns:a16="http://schemas.microsoft.com/office/drawing/2014/main" id="{3D8DE8A6-9C02-4718-ADB1-73855B8DB90C}"/>
              </a:ext>
            </a:extLst>
          </p:cNvPr>
          <p:cNvPicPr>
            <a:picLocks noChangeAspect="1"/>
          </p:cNvPicPr>
          <p:nvPr/>
        </p:nvPicPr>
        <p:blipFill>
          <a:blip r:embed="rId6"/>
          <a:stretch>
            <a:fillRect/>
          </a:stretch>
        </p:blipFill>
        <p:spPr>
          <a:xfrm>
            <a:off x="6234726" y="1564697"/>
            <a:ext cx="1295400" cy="1371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7" name="Imagen 26">
            <a:extLst>
              <a:ext uri="{FF2B5EF4-FFF2-40B4-BE49-F238E27FC236}">
                <a16:creationId xmlns:a16="http://schemas.microsoft.com/office/drawing/2014/main" id="{7C8A1BDC-AC9B-4E51-AA6A-8563D755D64D}"/>
              </a:ext>
            </a:extLst>
          </p:cNvPr>
          <p:cNvPicPr>
            <a:picLocks noChangeAspect="1"/>
          </p:cNvPicPr>
          <p:nvPr/>
        </p:nvPicPr>
        <p:blipFill>
          <a:blip r:embed="rId7"/>
          <a:stretch>
            <a:fillRect/>
          </a:stretch>
        </p:blipFill>
        <p:spPr>
          <a:xfrm>
            <a:off x="9307489" y="2762250"/>
            <a:ext cx="1314450" cy="13430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987234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584EB-CE43-4ABC-AF2F-05BD2CB18B46}"/>
              </a:ext>
            </a:extLst>
          </p:cNvPr>
          <p:cNvSpPr>
            <a:spLocks noGrp="1"/>
          </p:cNvSpPr>
          <p:nvPr>
            <p:ph type="title"/>
          </p:nvPr>
        </p:nvSpPr>
        <p:spPr/>
        <p:txBody>
          <a:bodyPr/>
          <a:lstStyle/>
          <a:p>
            <a:r>
              <a:rPr lang="es-MX" sz="4400" dirty="0"/>
              <a:t>NexusDesk Copilot – </a:t>
            </a:r>
            <a:r>
              <a:rPr lang="es-CO" sz="4400" dirty="0"/>
              <a:t>R</a:t>
            </a:r>
            <a:r>
              <a:rPr lang="es-CO" dirty="0"/>
              <a:t>esponsable AI</a:t>
            </a:r>
          </a:p>
        </p:txBody>
      </p:sp>
      <p:pic>
        <p:nvPicPr>
          <p:cNvPr id="4" name="Picture 6" descr="Microsoft | Microsoft Wiki | Fandom">
            <a:extLst>
              <a:ext uri="{FF2B5EF4-FFF2-40B4-BE49-F238E27FC236}">
                <a16:creationId xmlns:a16="http://schemas.microsoft.com/office/drawing/2014/main" id="{6DBF9A4A-E0FC-4988-AA4C-78F7031B7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de Código Facilito">
            <a:extLst>
              <a:ext uri="{FF2B5EF4-FFF2-40B4-BE49-F238E27FC236}">
                <a16:creationId xmlns:a16="http://schemas.microsoft.com/office/drawing/2014/main" id="{D3F29ABD-2778-4481-A95D-3AFE647D0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EFB46931-3A4D-418A-B87E-2D7EFB00E155}"/>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2205" t="47818" r="2705" b="4027"/>
          <a:stretch/>
        </p:blipFill>
        <p:spPr bwMode="auto">
          <a:xfrm>
            <a:off x="2547551" y="2747120"/>
            <a:ext cx="7096897" cy="2021140"/>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C06FD6B1-286F-4F7B-8EC4-646D2C8BB7BB}"/>
              </a:ext>
            </a:extLst>
          </p:cNvPr>
          <p:cNvSpPr txBox="1"/>
          <p:nvPr/>
        </p:nvSpPr>
        <p:spPr>
          <a:xfrm>
            <a:off x="2547551" y="1916123"/>
            <a:ext cx="7096896" cy="646331"/>
          </a:xfrm>
          <a:prstGeom prst="rect">
            <a:avLst/>
          </a:prstGeom>
          <a:noFill/>
        </p:spPr>
        <p:txBody>
          <a:bodyPr wrap="square">
            <a:spAutoFit/>
          </a:bodyPr>
          <a:lstStyle/>
          <a:p>
            <a:pPr algn="ctr"/>
            <a:r>
              <a:rPr lang="en-US" sz="1200" b="1"/>
              <a:t>Transparency:</a:t>
            </a:r>
            <a:r>
              <a:rPr lang="en-US" sz="1200"/>
              <a:t> Ensure users understand every action by clearly explaining what was done, why it was authorized, and the evidence supporting the execution. If a request cannot be completed, the system explicitly states the reason, helping the user understand the process and the rules applied.</a:t>
            </a:r>
            <a:endParaRPr lang="es-MX" sz="1200" dirty="0">
              <a:ea typeface="+mn-lt"/>
              <a:cs typeface="+mn-lt"/>
            </a:endParaRPr>
          </a:p>
        </p:txBody>
      </p:sp>
      <p:sp>
        <p:nvSpPr>
          <p:cNvPr id="8" name="CuadroTexto 7">
            <a:extLst>
              <a:ext uri="{FF2B5EF4-FFF2-40B4-BE49-F238E27FC236}">
                <a16:creationId xmlns:a16="http://schemas.microsoft.com/office/drawing/2014/main" id="{99A32DAC-7349-40EA-93ED-76DD7C268EE1}"/>
              </a:ext>
            </a:extLst>
          </p:cNvPr>
          <p:cNvSpPr txBox="1"/>
          <p:nvPr/>
        </p:nvSpPr>
        <p:spPr>
          <a:xfrm>
            <a:off x="2547550" y="4890562"/>
            <a:ext cx="7096897" cy="830997"/>
          </a:xfrm>
          <a:prstGeom prst="rect">
            <a:avLst/>
          </a:prstGeom>
          <a:noFill/>
        </p:spPr>
        <p:txBody>
          <a:bodyPr wrap="square">
            <a:spAutoFit/>
          </a:bodyPr>
          <a:lstStyle/>
          <a:p>
            <a:pPr algn="ctr"/>
            <a:r>
              <a:rPr lang="en-US" sz="1200" b="1"/>
              <a:t>Accountability:</a:t>
            </a:r>
            <a:r>
              <a:rPr lang="en-US" sz="1200"/>
              <a:t> Ensure accountability through an orchestrator that consistently applies corporate policies and documents every decision in a Work Item. All AI actions are recorded with evidence and traceability, and any high-risk or out-of-policy request is automatically escalated to a human, maintaining proper oversight and control.</a:t>
            </a:r>
            <a:endParaRPr lang="es-MX" sz="1000" dirty="0">
              <a:ea typeface="+mn-lt"/>
              <a:cs typeface="+mn-lt"/>
            </a:endParaRPr>
          </a:p>
        </p:txBody>
      </p:sp>
    </p:spTree>
    <p:extLst>
      <p:ext uri="{BB962C8B-B14F-4D97-AF65-F5344CB8AC3E}">
        <p14:creationId xmlns:p14="http://schemas.microsoft.com/office/powerpoint/2010/main" val="3138840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EA30291D-839D-4856-B02B-B9C2C8820377}"/>
              </a:ext>
            </a:extLst>
          </p:cNvPr>
          <p:cNvSpPr>
            <a:spLocks noGrp="1"/>
          </p:cNvSpPr>
          <p:nvPr>
            <p:ph type="body" idx="1"/>
          </p:nvPr>
        </p:nvSpPr>
        <p:spPr>
          <a:xfrm>
            <a:off x="938213" y="1378976"/>
            <a:ext cx="5157787" cy="823912"/>
          </a:xfrm>
        </p:spPr>
        <p:txBody>
          <a:bodyPr>
            <a:normAutofit/>
          </a:bodyPr>
          <a:lstStyle/>
          <a:p>
            <a:pPr algn="ctr"/>
            <a:r>
              <a:rPr lang="en-US" sz="4800" dirty="0"/>
              <a:t>Hackers</a:t>
            </a:r>
            <a:endParaRPr lang="es-CO" sz="4800" dirty="0"/>
          </a:p>
        </p:txBody>
      </p:sp>
      <p:sp>
        <p:nvSpPr>
          <p:cNvPr id="11" name="Marcador de contenido 10">
            <a:extLst>
              <a:ext uri="{FF2B5EF4-FFF2-40B4-BE49-F238E27FC236}">
                <a16:creationId xmlns:a16="http://schemas.microsoft.com/office/drawing/2014/main" id="{078ABF1B-8935-42DC-9A3B-1D2061EEB01F}"/>
              </a:ext>
            </a:extLst>
          </p:cNvPr>
          <p:cNvSpPr>
            <a:spLocks noGrp="1"/>
          </p:cNvSpPr>
          <p:nvPr>
            <p:ph sz="half" idx="2"/>
          </p:nvPr>
        </p:nvSpPr>
        <p:spPr>
          <a:xfrm>
            <a:off x="2755094" y="2535129"/>
            <a:ext cx="2315095" cy="461307"/>
          </a:xfrm>
        </p:spPr>
        <p:txBody>
          <a:bodyPr>
            <a:normAutofit fontScale="25000" lnSpcReduction="20000"/>
          </a:bodyPr>
          <a:lstStyle/>
          <a:p>
            <a:pPr marL="0" indent="0">
              <a:buNone/>
            </a:pPr>
            <a:r>
              <a:rPr lang="es-CO" sz="7200" b="1" i="0" dirty="0">
                <a:solidFill>
                  <a:srgbClr val="3C4043"/>
                </a:solidFill>
                <a:effectLst/>
              </a:rPr>
              <a:t>Daniela Vallejo</a:t>
            </a:r>
          </a:p>
          <a:p>
            <a:pPr marL="0" indent="0">
              <a:buNone/>
            </a:pPr>
            <a:r>
              <a:rPr lang="es-CO" sz="5600" i="1" dirty="0">
                <a:solidFill>
                  <a:srgbClr val="3C4043"/>
                </a:solidFill>
              </a:rPr>
              <a:t>ML Engineer</a:t>
            </a:r>
          </a:p>
        </p:txBody>
      </p:sp>
      <p:sp>
        <p:nvSpPr>
          <p:cNvPr id="10" name="Marcador de texto 9">
            <a:extLst>
              <a:ext uri="{FF2B5EF4-FFF2-40B4-BE49-F238E27FC236}">
                <a16:creationId xmlns:a16="http://schemas.microsoft.com/office/drawing/2014/main" id="{7D509310-1193-4DFC-AFC8-0CD479E848F4}"/>
              </a:ext>
            </a:extLst>
          </p:cNvPr>
          <p:cNvSpPr>
            <a:spLocks noGrp="1"/>
          </p:cNvSpPr>
          <p:nvPr>
            <p:ph type="body" sz="quarter" idx="3"/>
          </p:nvPr>
        </p:nvSpPr>
        <p:spPr>
          <a:xfrm>
            <a:off x="6096000" y="1378976"/>
            <a:ext cx="5183188" cy="823912"/>
          </a:xfrm>
        </p:spPr>
        <p:txBody>
          <a:bodyPr>
            <a:normAutofit/>
          </a:bodyPr>
          <a:lstStyle/>
          <a:p>
            <a:pPr algn="ctr"/>
            <a:r>
              <a:rPr lang="en-US" sz="4400" dirty="0"/>
              <a:t>Advisors</a:t>
            </a:r>
            <a:endParaRPr lang="es-CO" sz="4400" dirty="0"/>
          </a:p>
        </p:txBody>
      </p:sp>
      <p:pic>
        <p:nvPicPr>
          <p:cNvPr id="7170" name="Picture 2">
            <a:extLst>
              <a:ext uri="{FF2B5EF4-FFF2-40B4-BE49-F238E27FC236}">
                <a16:creationId xmlns:a16="http://schemas.microsoft.com/office/drawing/2014/main" id="{4CBC1062-84E7-4120-9AF7-04F2B73383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2141" y="5149465"/>
            <a:ext cx="1583837" cy="1688591"/>
          </a:xfrm>
          <a:prstGeom prst="rect">
            <a:avLst/>
          </a:prstGeom>
          <a:noFill/>
          <a:extLst>
            <a:ext uri="{909E8E84-426E-40DD-AFC4-6F175D3DCCD1}">
              <a14:hiddenFill xmlns:a14="http://schemas.microsoft.com/office/drawing/2010/main">
                <a:solidFill>
                  <a:srgbClr val="FFFFFF"/>
                </a:solidFill>
              </a14:hiddenFill>
            </a:ext>
          </a:extLst>
        </p:spPr>
      </p:pic>
      <p:sp>
        <p:nvSpPr>
          <p:cNvPr id="19" name="Marcador de contenido 10">
            <a:extLst>
              <a:ext uri="{FF2B5EF4-FFF2-40B4-BE49-F238E27FC236}">
                <a16:creationId xmlns:a16="http://schemas.microsoft.com/office/drawing/2014/main" id="{C27B364F-E7CD-4CEE-9D5C-F52882F1CE1E}"/>
              </a:ext>
            </a:extLst>
          </p:cNvPr>
          <p:cNvSpPr txBox="1">
            <a:spLocks/>
          </p:cNvSpPr>
          <p:nvPr/>
        </p:nvSpPr>
        <p:spPr>
          <a:xfrm>
            <a:off x="2755094" y="3509979"/>
            <a:ext cx="2315095" cy="461307"/>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CO" sz="7000" b="1" dirty="0">
                <a:solidFill>
                  <a:srgbClr val="3C4043"/>
                </a:solidFill>
              </a:rPr>
              <a:t>Liseth Ramos</a:t>
            </a:r>
          </a:p>
          <a:p>
            <a:pPr marL="0" indent="0">
              <a:buNone/>
            </a:pPr>
            <a:r>
              <a:rPr lang="es-CO" sz="5600" i="1" dirty="0">
                <a:solidFill>
                  <a:srgbClr val="3C4043"/>
                </a:solidFill>
              </a:rPr>
              <a:t>ML Engineer</a:t>
            </a:r>
          </a:p>
          <a:p>
            <a:pPr marL="0" indent="0">
              <a:buNone/>
            </a:pPr>
            <a:endParaRPr lang="es-CO" sz="5600" i="1" dirty="0">
              <a:solidFill>
                <a:srgbClr val="3C4043"/>
              </a:solidFill>
            </a:endParaRPr>
          </a:p>
        </p:txBody>
      </p:sp>
      <p:sp>
        <p:nvSpPr>
          <p:cNvPr id="26" name="Marcador de contenido 10">
            <a:extLst>
              <a:ext uri="{FF2B5EF4-FFF2-40B4-BE49-F238E27FC236}">
                <a16:creationId xmlns:a16="http://schemas.microsoft.com/office/drawing/2014/main" id="{4191EA29-0B4C-4DB8-B766-9508CC03E7A9}"/>
              </a:ext>
            </a:extLst>
          </p:cNvPr>
          <p:cNvSpPr txBox="1">
            <a:spLocks/>
          </p:cNvSpPr>
          <p:nvPr/>
        </p:nvSpPr>
        <p:spPr>
          <a:xfrm>
            <a:off x="2755095" y="4528175"/>
            <a:ext cx="2315095" cy="461307"/>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CO" sz="7000" b="1" dirty="0">
                <a:solidFill>
                  <a:srgbClr val="3C4043"/>
                </a:solidFill>
              </a:rPr>
              <a:t>Emilio Martínez López </a:t>
            </a:r>
          </a:p>
          <a:p>
            <a:pPr marL="0" indent="0">
              <a:buNone/>
            </a:pPr>
            <a:r>
              <a:rPr lang="es-CO" sz="5600" i="1" dirty="0">
                <a:solidFill>
                  <a:srgbClr val="3C4043"/>
                </a:solidFill>
              </a:rPr>
              <a:t>ML </a:t>
            </a:r>
            <a:r>
              <a:rPr lang="en-US" sz="5600" i="1" dirty="0">
                <a:solidFill>
                  <a:srgbClr val="3C4043"/>
                </a:solidFill>
              </a:rPr>
              <a:t>Engineer</a:t>
            </a:r>
          </a:p>
        </p:txBody>
      </p:sp>
      <p:pic>
        <p:nvPicPr>
          <p:cNvPr id="7184" name="Picture 16" descr="Carla Vanesa Mamani Chávez's Speaker Profile @ Sessionize">
            <a:extLst>
              <a:ext uri="{FF2B5EF4-FFF2-40B4-BE49-F238E27FC236}">
                <a16:creationId xmlns:a16="http://schemas.microsoft.com/office/drawing/2014/main" id="{5A5F3F0F-C646-4A9E-BD36-429519EC0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2891" y="2353828"/>
            <a:ext cx="823910" cy="823910"/>
          </a:xfrm>
          <a:prstGeom prst="ellipse">
            <a:avLst/>
          </a:prstGeom>
          <a:ln w="3175" cap="rnd">
            <a:solidFill>
              <a:srgbClr val="333333"/>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28" name="Marcador de contenido 10">
            <a:extLst>
              <a:ext uri="{FF2B5EF4-FFF2-40B4-BE49-F238E27FC236}">
                <a16:creationId xmlns:a16="http://schemas.microsoft.com/office/drawing/2014/main" id="{95D3256B-8F72-451C-8F53-1343F92B347C}"/>
              </a:ext>
            </a:extLst>
          </p:cNvPr>
          <p:cNvSpPr txBox="1">
            <a:spLocks/>
          </p:cNvSpPr>
          <p:nvPr/>
        </p:nvSpPr>
        <p:spPr>
          <a:xfrm>
            <a:off x="8059967" y="2535127"/>
            <a:ext cx="2315095" cy="461307"/>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CO" sz="7200" b="1" dirty="0">
                <a:solidFill>
                  <a:srgbClr val="3C4043"/>
                </a:solidFill>
              </a:rPr>
              <a:t>Carla</a:t>
            </a:r>
            <a:r>
              <a:rPr lang="es-CO" sz="7200" b="1" i="0" dirty="0">
                <a:solidFill>
                  <a:srgbClr val="5F6368"/>
                </a:solidFill>
                <a:effectLst/>
              </a:rPr>
              <a:t> </a:t>
            </a:r>
            <a:r>
              <a:rPr lang="es-CO" sz="7200" b="1" dirty="0">
                <a:solidFill>
                  <a:srgbClr val="3C4043"/>
                </a:solidFill>
              </a:rPr>
              <a:t>Mamani</a:t>
            </a:r>
          </a:p>
          <a:p>
            <a:pPr marL="0" indent="0">
              <a:buFont typeface="Arial" panose="020B0604020202020204" pitchFamily="34" charset="0"/>
              <a:buNone/>
            </a:pPr>
            <a:r>
              <a:rPr lang="es-CO" sz="5600" i="1" dirty="0">
                <a:solidFill>
                  <a:srgbClr val="3C4043"/>
                </a:solidFill>
              </a:rPr>
              <a:t>MSFT MVP y Especialista de Azure en Código Facilito</a:t>
            </a:r>
            <a:endParaRPr lang="es-CO" i="1" dirty="0"/>
          </a:p>
        </p:txBody>
      </p:sp>
      <p:pic>
        <p:nvPicPr>
          <p:cNvPr id="31" name="Picture 6" descr="Microsoft | Microsoft Wiki | Fandom">
            <a:extLst>
              <a:ext uri="{FF2B5EF4-FFF2-40B4-BE49-F238E27FC236}">
                <a16:creationId xmlns:a16="http://schemas.microsoft.com/office/drawing/2014/main" id="{A1F34959-4C29-4D16-846D-8335C860E6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 y="6389241"/>
            <a:ext cx="1583837" cy="40850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Logo de Código Facilito">
            <a:extLst>
              <a:ext uri="{FF2B5EF4-FFF2-40B4-BE49-F238E27FC236}">
                <a16:creationId xmlns:a16="http://schemas.microsoft.com/office/drawing/2014/main" id="{EDAD0939-0501-447D-9368-6855B2EF72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6940" y="6419523"/>
            <a:ext cx="2212135" cy="347935"/>
          </a:xfrm>
          <a:prstGeom prst="rect">
            <a:avLst/>
          </a:prstGeom>
          <a:noFill/>
          <a:extLst>
            <a:ext uri="{909E8E84-426E-40DD-AFC4-6F175D3DCCD1}">
              <a14:hiddenFill xmlns:a14="http://schemas.microsoft.com/office/drawing/2010/main">
                <a:solidFill>
                  <a:srgbClr val="FFFFFF"/>
                </a:solidFill>
              </a14:hiddenFill>
            </a:ext>
          </a:extLst>
        </p:spPr>
      </p:pic>
      <p:sp>
        <p:nvSpPr>
          <p:cNvPr id="16" name="Marcador de contenido 10">
            <a:extLst>
              <a:ext uri="{FF2B5EF4-FFF2-40B4-BE49-F238E27FC236}">
                <a16:creationId xmlns:a16="http://schemas.microsoft.com/office/drawing/2014/main" id="{04689B57-B868-4D19-AE2D-841149C0E115}"/>
              </a:ext>
            </a:extLst>
          </p:cNvPr>
          <p:cNvSpPr txBox="1">
            <a:spLocks/>
          </p:cNvSpPr>
          <p:nvPr/>
        </p:nvSpPr>
        <p:spPr>
          <a:xfrm>
            <a:off x="2755095" y="5540299"/>
            <a:ext cx="2315095" cy="461307"/>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CO" sz="7000" b="1" dirty="0">
                <a:solidFill>
                  <a:srgbClr val="3C4043"/>
                </a:solidFill>
              </a:rPr>
              <a:t>David Santafe</a:t>
            </a:r>
          </a:p>
          <a:p>
            <a:pPr marL="0" indent="0">
              <a:buFont typeface="Arial" panose="020B0604020202020204" pitchFamily="34" charset="0"/>
              <a:buNone/>
            </a:pPr>
            <a:r>
              <a:rPr lang="es-CO" sz="5600" b="0" i="1" dirty="0">
                <a:solidFill>
                  <a:srgbClr val="444444"/>
                </a:solidFill>
                <a:effectLst/>
              </a:rPr>
              <a:t>.NET developer</a:t>
            </a:r>
          </a:p>
        </p:txBody>
      </p:sp>
      <p:pic>
        <p:nvPicPr>
          <p:cNvPr id="3074" name="Picture 2" descr="Liseth Fernanda Ramos Giraldo">
            <a:extLst>
              <a:ext uri="{FF2B5EF4-FFF2-40B4-BE49-F238E27FC236}">
                <a16:creationId xmlns:a16="http://schemas.microsoft.com/office/drawing/2014/main" id="{BD002368-EC4D-42EC-94CD-BEE2EBF698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5813" y="3365955"/>
            <a:ext cx="823910" cy="823910"/>
          </a:xfrm>
          <a:prstGeom prst="ellipse">
            <a:avLst/>
          </a:prstGeom>
          <a:ln w="3175" cap="rnd">
            <a:solidFill>
              <a:srgbClr val="333333"/>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3" name="Imagen 2" descr="Una persona con una tabla de surf&#10;&#10;Descripción generada automáticamente">
            <a:extLst>
              <a:ext uri="{FF2B5EF4-FFF2-40B4-BE49-F238E27FC236}">
                <a16:creationId xmlns:a16="http://schemas.microsoft.com/office/drawing/2014/main" id="{F2BFBF05-6466-46B7-9CC2-33D6E17D9C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15813" y="2385037"/>
            <a:ext cx="823910" cy="823910"/>
          </a:xfrm>
          <a:prstGeom prst="ellipse">
            <a:avLst/>
          </a:prstGeom>
          <a:ln w="3175"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4" name="Imagen 3" descr="Un hombre con lentes y una camisa negra&#10;&#10;Descripción generada automáticamente">
            <a:extLst>
              <a:ext uri="{FF2B5EF4-FFF2-40B4-BE49-F238E27FC236}">
                <a16:creationId xmlns:a16="http://schemas.microsoft.com/office/drawing/2014/main" id="{9DF24E28-30F5-48B4-AB8C-14E048B43E2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15813" y="5352411"/>
            <a:ext cx="881595" cy="938472"/>
          </a:xfrm>
          <a:prstGeom prst="ellipse">
            <a:avLst/>
          </a:prstGeom>
          <a:ln w="3175"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pic>
        <p:nvPicPr>
          <p:cNvPr id="5" name="Picture 2">
            <a:extLst>
              <a:ext uri="{FF2B5EF4-FFF2-40B4-BE49-F238E27FC236}">
                <a16:creationId xmlns:a16="http://schemas.microsoft.com/office/drawing/2014/main" id="{88413608-92C3-461B-9298-7E5F516854A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15813" y="4371493"/>
            <a:ext cx="823911" cy="823911"/>
          </a:xfrm>
          <a:prstGeom prst="ellipse">
            <a:avLst/>
          </a:prstGeom>
          <a:ln w="3175" cap="rnd">
            <a:solidFill>
              <a:srgbClr val="333333"/>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52093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969</TotalTime>
  <Words>941</Words>
  <Application>Microsoft Office PowerPoint</Application>
  <PresentationFormat>Panorámica</PresentationFormat>
  <Paragraphs>45</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Tema de Office</vt:lpstr>
      <vt:lpstr>MICROSOFT HACKATHON INNOVATION CHALLENGE  NOVEMBER 2025 CÓDIGO FACILITO</vt:lpstr>
      <vt:lpstr>NexusDesk Copilot: Auto-Resolve Service Desk with AI Agents + Azure DevOps</vt:lpstr>
      <vt:lpstr>Project Description</vt:lpstr>
      <vt:lpstr>Presentación de PowerPoint</vt:lpstr>
      <vt:lpstr>Features</vt:lpstr>
      <vt:lpstr>Presentación de PowerPoint</vt:lpstr>
      <vt:lpstr>Architecture &amp; Process Flow </vt:lpstr>
      <vt:lpstr>Scenario: Create and import a repository in Azure DevOps </vt:lpstr>
      <vt:lpstr>NexusDesk Copilot – Responsable AI</vt:lpstr>
      <vt:lpstr>NexusDesk Copilot – Responsable AI</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HACKATHON INNOVATION CHALLENGE  OCTOBER 2024 CÓDIGO FACILITO</dc:title>
  <dc:creator>David Santafe Zorrilla</dc:creator>
  <cp:lastModifiedBy>David Santafe</cp:lastModifiedBy>
  <cp:revision>133</cp:revision>
  <dcterms:created xsi:type="dcterms:W3CDTF">2024-10-31T04:59:34Z</dcterms:created>
  <dcterms:modified xsi:type="dcterms:W3CDTF">2025-11-29T03:26:33Z</dcterms:modified>
</cp:coreProperties>
</file>